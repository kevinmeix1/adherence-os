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d6ada75926444c" /><Relationship Type="http://schemas.openxmlformats.org/officeDocument/2006/relationships/extended-properties" Target="/docProps/app.xml" Id="Raf511ac725384953" /><Relationship Type="http://schemas.openxmlformats.org/officeDocument/2006/relationships/officeDocument" Target="/ppt/presentation.xml" Id="R7b2fd300c3a948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50e5d4f9414768"/>
  </p:sldMasterIdLst>
  <p:notesMasterIdLst>
    <p:notesMasterId xmlns:r="http://schemas.openxmlformats.org/officeDocument/2006/relationships" r:id="R892414c82d804c4f"/>
  </p:notesMasterIdLst>
  <p:sldIdLst>
    <p:sldId xmlns:r="http://schemas.openxmlformats.org/officeDocument/2006/relationships" id="256" r:id="Rc4e656caca7d477d"/>
    <p:sldId xmlns:r="http://schemas.openxmlformats.org/officeDocument/2006/relationships" id="257" r:id="R5ed970f194ba4c03"/>
    <p:sldId xmlns:r="http://schemas.openxmlformats.org/officeDocument/2006/relationships" id="258" r:id="Rb3e100e16b534b4b"/>
    <p:sldId xmlns:r="http://schemas.openxmlformats.org/officeDocument/2006/relationships" id="259" r:id="Rdc4162653afc4d54"/>
    <p:sldId xmlns:r="http://schemas.openxmlformats.org/officeDocument/2006/relationships" id="260" r:id="Rcfc9513da0ff46ee"/>
    <p:sldId xmlns:r="http://schemas.openxmlformats.org/officeDocument/2006/relationships" id="261" r:id="R47ec009811cd4a51"/>
    <p:sldId xmlns:r="http://schemas.openxmlformats.org/officeDocument/2006/relationships" id="262" r:id="R599428c688844c49"/>
    <p:sldId xmlns:r="http://schemas.openxmlformats.org/officeDocument/2006/relationships" id="263" r:id="R3205bacef686417c"/>
    <p:sldId xmlns:r="http://schemas.openxmlformats.org/officeDocument/2006/relationships" id="264" r:id="R7e6a5a0fb62e40ea"/>
    <p:sldId xmlns:r="http://schemas.openxmlformats.org/officeDocument/2006/relationships" id="265" r:id="R032dedefbbcd49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68aa026cf3461d" /><Relationship Type="http://schemas.openxmlformats.org/officeDocument/2006/relationships/slideMaster" Target="/ppt/slideMasters/slideMaster1.xml" Id="Rd850e5d4f9414768" /><Relationship Type="http://schemas.openxmlformats.org/officeDocument/2006/relationships/notesMaster" Target="/ppt/notesMasters/notesMaster1.xml" Id="R892414c82d804c4f" /><Relationship Type="http://schemas.openxmlformats.org/officeDocument/2006/relationships/presProps" Target="/ppt/presProps.xml" Id="Rc4532f97e9ed4b0d" /><Relationship Type="http://schemas.openxmlformats.org/officeDocument/2006/relationships/tableStyles" Target="/ppt/tableStyles.xml" Id="R8dd17143ec274039" /><Relationship Type="http://schemas.openxmlformats.org/officeDocument/2006/relationships/slide" Target="/ppt/slides/slide1.xml" Id="Rc4e656caca7d477d" /><Relationship Type="http://schemas.openxmlformats.org/officeDocument/2006/relationships/slide" Target="/ppt/slides/slide2.xml" Id="R5ed970f194ba4c03" /><Relationship Type="http://schemas.openxmlformats.org/officeDocument/2006/relationships/slide" Target="/ppt/slides/slide3.xml" Id="Rb3e100e16b534b4b" /><Relationship Type="http://schemas.openxmlformats.org/officeDocument/2006/relationships/slide" Target="/ppt/slides/slide4.xml" Id="Rdc4162653afc4d54" /><Relationship Type="http://schemas.openxmlformats.org/officeDocument/2006/relationships/slide" Target="/ppt/slides/slide5.xml" Id="Rcfc9513da0ff46ee" /><Relationship Type="http://schemas.openxmlformats.org/officeDocument/2006/relationships/slide" Target="/ppt/slides/slide6.xml" Id="R47ec009811cd4a51" /><Relationship Type="http://schemas.openxmlformats.org/officeDocument/2006/relationships/slide" Target="/ppt/slides/slide7.xml" Id="R599428c688844c49" /><Relationship Type="http://schemas.openxmlformats.org/officeDocument/2006/relationships/slide" Target="/ppt/slides/slide8.xml" Id="R3205bacef686417c" /><Relationship Type="http://schemas.openxmlformats.org/officeDocument/2006/relationships/slide" Target="/ppt/slides/slide9.xml" Id="R7e6a5a0fb62e40ea" /><Relationship Type="http://schemas.openxmlformats.org/officeDocument/2006/relationships/slide" Target="/ppt/slides/slide10.xml" Id="R032dedefbbcd49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f37109bb364b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6054886be2419b" /><Relationship Type="http://schemas.openxmlformats.org/officeDocument/2006/relationships/notesMaster" Target="/ppt/notesMasters/notesMaster1.xml" Id="Rb07e834bec6844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2a46c0fd644588" /><Relationship Type="http://schemas.openxmlformats.org/officeDocument/2006/relationships/notesMaster" Target="/ppt/notesMasters/notesMaster1.xml" Id="R97093969e9fb4a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0aa2ec59094cc4" /><Relationship Type="http://schemas.openxmlformats.org/officeDocument/2006/relationships/notesMaster" Target="/ppt/notesMasters/notesMaster1.xml" Id="Rc4333fe1ceb842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0f0e8a492d4d08" /><Relationship Type="http://schemas.openxmlformats.org/officeDocument/2006/relationships/notesMaster" Target="/ppt/notesMasters/notesMaster1.xml" Id="R826b57efe8ed45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9b5a7fd49b499e" /><Relationship Type="http://schemas.openxmlformats.org/officeDocument/2006/relationships/notesMaster" Target="/ppt/notesMasters/notesMaster1.xml" Id="R269deb47916f49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ae9de8619243bf" /><Relationship Type="http://schemas.openxmlformats.org/officeDocument/2006/relationships/notesMaster" Target="/ppt/notesMasters/notesMaster1.xml" Id="R927e6429fd9e41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0c47abb0ca47ac" /><Relationship Type="http://schemas.openxmlformats.org/officeDocument/2006/relationships/notesMaster" Target="/ppt/notesMasters/notesMaster1.xml" Id="R5bfe90ee5d0646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b25ecda02944e6" /><Relationship Type="http://schemas.openxmlformats.org/officeDocument/2006/relationships/notesMaster" Target="/ppt/notesMasters/notesMaster1.xml" Id="Re15deb22c05248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ed0ea04f79432f" /><Relationship Type="http://schemas.openxmlformats.org/officeDocument/2006/relationships/notesMaster" Target="/ppt/notesMasters/notesMaster1.xml" Id="R516825a7b27149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9cb9e665884e07" /><Relationship Type="http://schemas.openxmlformats.org/officeDocument/2006/relationships/notesMaster" Target="/ppt/notesMasters/notesMaster1.xml" Id="R77144cb17b8842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8631fb21d44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ad7d6b3feb460b" /><Relationship Type="http://schemas.openxmlformats.org/officeDocument/2006/relationships/slideLayout" Target="/ppt/slideLayouts/slideLayout1.xml" Id="R355feba1562e45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5feba1562e45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dfe5edce647c7" /><Relationship Type="http://schemas.openxmlformats.org/officeDocument/2006/relationships/notesSlide" Target="/ppt/notesSlides/notesSlide1.xml" Id="Rd32c4f20687e4b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46c74e97f4fb1" /><Relationship Type="http://schemas.openxmlformats.org/officeDocument/2006/relationships/image" Target="/ppt/media/image.png" Id="R641671a7a6114e03" /><Relationship Type="http://schemas.openxmlformats.org/officeDocument/2006/relationships/notesSlide" Target="/ppt/notesSlides/notesSlide2.xml" Id="R5ef23f1bf45a44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6737638214b4a" /><Relationship Type="http://schemas.openxmlformats.org/officeDocument/2006/relationships/notesSlide" Target="/ppt/notesSlides/notesSlide3.xml" Id="R72c111ea5feb48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c1dc8f6044ae1" /><Relationship Type="http://schemas.openxmlformats.org/officeDocument/2006/relationships/image" Target="/ppt/media/image2.png" Id="R5eb0bf3b99ca4a2c" /><Relationship Type="http://schemas.openxmlformats.org/officeDocument/2006/relationships/notesSlide" Target="/ppt/notesSlides/notesSlide4.xml" Id="R2676cf2aaa894e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2aeeb7f2ca4715" /><Relationship Type="http://schemas.openxmlformats.org/officeDocument/2006/relationships/image" Target="/ppt/media/image3.png" Id="R30b7f9b071be45b6" /><Relationship Type="http://schemas.openxmlformats.org/officeDocument/2006/relationships/notesSlide" Target="/ppt/notesSlides/notesSlide5.xml" Id="Rd878ad0901c943b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5577525f654886" /><Relationship Type="http://schemas.openxmlformats.org/officeDocument/2006/relationships/image" Target="/ppt/media/image4.png" Id="Rd53be6ceefee48b2" /><Relationship Type="http://schemas.openxmlformats.org/officeDocument/2006/relationships/notesSlide" Target="/ppt/notesSlides/notesSlide6.xml" Id="R35aa56c12c6348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f56f0b9a243b1" /><Relationship Type="http://schemas.openxmlformats.org/officeDocument/2006/relationships/image" Target="/ppt/media/image5.png" Id="R9044a346020d401e" /><Relationship Type="http://schemas.openxmlformats.org/officeDocument/2006/relationships/notesSlide" Target="/ppt/notesSlides/notesSlide7.xml" Id="R2dc8b391cc2a49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3457c4fb94c64" /><Relationship Type="http://schemas.openxmlformats.org/officeDocument/2006/relationships/image" Target="/ppt/media/image6.png" Id="R1b183c4fed7d4333" /><Relationship Type="http://schemas.openxmlformats.org/officeDocument/2006/relationships/notesSlide" Target="/ppt/notesSlides/notesSlide8.xml" Id="R95dee0f438974e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602e78c104463" /><Relationship Type="http://schemas.openxmlformats.org/officeDocument/2006/relationships/image" Target="/ppt/media/image7.png" Id="Ra4eae015b79b4d64" /><Relationship Type="http://schemas.openxmlformats.org/officeDocument/2006/relationships/notesSlide" Target="/ppt/notesSlides/notesSlide9.xml" Id="Rc02bd5fb904344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2a5f8abb04c1e" /><Relationship Type="http://schemas.openxmlformats.org/officeDocument/2006/relationships/image" Target="/ppt/media/image8.png" Id="Rd94b102da6754895" /><Relationship Type="http://schemas.openxmlformats.org/officeDocument/2006/relationships/notesSlide" Target="/ppt/notesSlides/notesSlide10.xml" Id="R61a2a201064246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A6AE1C-0D53-4FA9-8623-386352D4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8"/>
          </a:solidFill>
          <a:ln xmlns:a="http://schemas.openxmlformats.org/drawingml/2006/main" w="0">
            <a:solidFill>
              <a:srgbClr val="17191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655CC-8CCC-4175-B927-44A86F69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ACFFE-E1DF-42FA-9370-FC3F4F38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REIMAGINE HEALTH / EMED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ADED4B-8BAF-40AF-9BD9-E481A963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71918"/>
                </a:solidFill>
              </a:defRPr>
            </a:pPr>
            <a:r>
              <a:rPr sz="5100" b="1">
                <a:solidFill>
                  <a:srgbClr val="171918"/>
                </a:solidFill>
              </a:rPr>
              <a:t>Adherence 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13D4B-5143-4D6B-8A8C-73965DD7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838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606662"/>
                </a:solidFill>
              </a:defRPr>
            </a:pPr>
            <a:r>
              <a:rPr sz="2025" b="0">
                <a:solidFill>
                  <a:srgbClr val="606662"/>
                </a:solidFill>
              </a:rPr>
              <a:t>An AI decision layer for safer at-home GLP-1 adherence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293AF-A4A6-480A-808D-FE808515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24EE9-9BD8-4CE3-AF5A-61C304BE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6B701-BC8A-48F3-99D7-58B70657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PREDICT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1CD24-755B-48EF-BC4A-8569CA90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0492E-3252-4E3C-8BF9-917C00B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5CF98-93E3-40A3-9348-306988D8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8FBCF-F5E1-4213-87D3-91DF8546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4AC58-9929-449C-93F6-C67B2133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AE3EC-3782-4880-8214-FFDD8BAA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744EC-A354-456B-855F-1D7B6FE9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662"/>
                </a:solidFill>
              </a:defRPr>
            </a:pPr>
            <a:r>
              <a:rPr sz="1350" b="0">
                <a:solidFill>
                  <a:srgbClr val="606662"/>
                </a:solidFill>
              </a:rPr>
              <a:t>Local ML + typed evidence map + deterministic safety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04932A-09CF-4283-8AD0-633C845E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141D8-D39F-481A-91C4-4F5E218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EBFA5-B485-4B5A-B4C2-F04C9F8F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73157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4D4E73-2F09-4234-97AF-DE42C133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THE PATIENT NEED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9B2DD-2B9C-4598-97D5-8B217160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Chronic care breaks in the time between appointments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67D3B-772D-4451-9902-EDB975A0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A8144-6509-4A63-82D2-BDA8BAA8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Friction accumulates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4D189-4285-45BA-A0CA-FD483DE7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Symptoms, routine changes, and missed doses become a pattern before the next appointment.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54FCC-CF21-4AA6-B9CA-BCC6DE29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9DC25-24CC-4839-8198-70C5FBE1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Data is hard to interpret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0126C-8CF3-4789-83E0-5BE30F97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Patients should not have to decide which home signal matters or when to seek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6260B-214B-48ED-812D-F6AA2016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15A65-9DAB-4235-A02C-5C92BCE7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Clinical attention is scarce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BED0D-C12B-448A-B57B-CC47CFF1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Care teams need a concise record that makes rule-matched review evidence obvious.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2E229-544E-4616-A0BB-65FD54C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666875"/>
            <a:ext cx="6972300" cy="393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671a7a6114e03"/>
          <a:stretch xmlns:a="http://schemas.openxmlformats.org/drawingml/2006/main"/>
        </p:blipFill>
        <p:spPr>
          <a:xfrm xmlns:a="http://schemas.openxmlformats.org/drawingml/2006/main" flipH="0" flipV="0">
            <a:off x="4705350" y="1678186"/>
            <a:ext cx="6953250" cy="3911203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CA42F-86AC-4645-BC1D-D83F099E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C0D81-A9E0-42DA-87A2-097D4FCB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02C4B-A873-4789-9233-E90C91B9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2720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D4B1A4-6C74-4EF7-A68B-FF0F5C8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DECISION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607FE-980A-4164-BAF9-4C65C63B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One ledger separates model inference from deterministic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49798-92DD-40B8-A5D4-638B44C7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CDA9D-0D38-4494-B62E-277CA061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4AB19-FE89-4274-AD77-8E2CEE45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E70A-1238-412E-B9B1-463D6345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Home check-in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BE2CB-DC9D-41A8-9370-9480AFA9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Dose event, symptoms, hydration, routine, language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7C249-0B0F-46A8-A81A-F1DA6F34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12FB6-7ECE-4971-AE34-20A05EA8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47DBE-4632-41E8-B6D4-5DA4416C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58DD2-01DA-444A-99BA-264E973B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PREDICT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83009-05F8-43FE-AD4A-3D270D85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risk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ABB3C-69FD-4ED1-98C0-877C039F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Prospective score, marginal bounds, exact decomposition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528EF-2A47-4399-BF75-99E4C7BB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8BBEC-FFE1-463A-AF3A-A660CE37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339A6-F587-40F8-814A-B66B7F32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3C22E-B847-413F-A1EE-652ED6DD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C120F-5464-4052-809E-EDF080F9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Evidence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D6338-8E93-4479-A3F4-9EC7DAE0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Context signal, model contributor, tested-action comparison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BA837A-047B-4406-A7E1-3B6D0677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460053-A5B7-4956-8EE4-7AFD1A7C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E4DBB-A0A1-4C1A-9FF4-7BB6D085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706B97-07BD-4480-B799-01EEE75B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8CD983-402E-4DDE-AD30-9DCAF35A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93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review draft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9CFFB4-0730-4658-AA7E-AF650FED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Rule trigger, in-memory state, unsent draft, audit trail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A8E10F-D5C2-42B4-AD8A-57A60BE9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F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C53FD9-6084-457C-BE19-4CD689A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577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DETERMINISTIC SAFETY OVERRIDE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87C76-D6EC-410E-9951-63922E23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0101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918"/>
                </a:solidFill>
              </a:defRPr>
            </a:pPr>
            <a:r>
              <a:rPr sz="1650" b="1">
                <a:solidFill>
                  <a:srgbClr val="171918"/>
                </a:solidFill>
              </a:rPr>
              <a:t>Red flags suppress coaching and every tested action, even when the model abstains.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B507B2-8CF7-46DD-8125-8E25D375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3F1FFF-5A62-4C0A-822B-AD05FFC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C03957-67E2-44D2-979A-83AD3298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491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618429-1DC7-410F-94F9-72B9D708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4D2C0-B778-45AB-842F-06D566D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first screen is an inspectable decision, not a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62D48-84B0-4F1C-A08B-D612EED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9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01 / CURRENT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6F210-7BEC-41FF-A30F-11DD551B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AF07F-6B9C-4661-BBC3-8192457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5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42% supported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B6815-450B-48C9-9764-17A6BB9C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Risk-raising signal visible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76C6B-3D3E-425D-8137-F8785221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Watch / no handoff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B09F5-C41D-411F-A154-8965A00C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0bf3b99ca4a2c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351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61544-9A2B-46AF-937B-5B53B546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B6CC9-19F7-4BC0-8379-99A8B208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map separates context from model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C8497-1FB1-4D67-B653-85B978F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781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02 / ATTRIBUTION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26969-E955-45A3-A837-173211D0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79254-C88D-41B3-8E7A-0CD75660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Appetite + energy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B7124-33FB-448D-A412-D12DA356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Nausea burden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A6F68-49FF-4B9F-96B8-0830F61F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Typed provenance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F7B2A-3832-46C5-83E3-2D0B3D21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b7f9b071be45b6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498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274D4C-38A0-4937-80B9-D34E4DEA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BOUNDED PLANNING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BD207-1237-4828-A0BC-339859B1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Tested actions are transparent assumptions, not causal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C9D85-6127-4C2D-9E19-000942E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45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03 / TESTED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E59F-A382-4FCB-A1F7-3DE4785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AA5B7-18E0-4383-BEB4-2F5ADD13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Meal timing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2F35F-8359-4DD4-A304-F0CB772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−16 pp scenario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6B25A-82FC-4B00-BA17-B710AFDB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Marginal bounds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6D7F2-4A67-423F-BE0C-E4D78A60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e6ceefee48b2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73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6EAD34-458D-417F-A860-71237289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SAFETY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B22D0-8482-4A0C-9B70-2C0D9693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When red flags appear, the model abstains and safety still 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92D66-9423-40DE-8E4F-22A65A18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2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04 / SAFETY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90E47-4A4E-404E-81F0-9ECCF789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D9BF3-C088-4F2B-B502-ADA3970D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Model abstained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FF521-6BF8-4D60-A35E-42608CB9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Actions suppressed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13FB4-6C35-4608-899D-2B8A576E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Local review draft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AA903-D8B3-4A80-A5F5-1ED8A4E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4a346020d401e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5089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5ED79A-A2FA-47D3-8E5C-1CDCAFBA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HUMAN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B4729-3EE6-4B31-8290-8F9A8D0A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A local review draft is prepared, never sent or prescribed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E8121-A47D-4A93-A41C-10811C2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05 /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497DD-09C2-47AD-8D8D-26753077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5A199-902C-4B3E-8C7F-76522858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Rule match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0B9C0-903A-417E-B6CF-02B79D30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In-memory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BA70B-5746-4C4F-9DCE-2AC9DFE3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Not 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4A0CC-C3EA-4CC0-B5F3-A4E9251F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183c4fed7d4333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44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12DEBB-247A-4299-965B-DBC51904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TECHNICAL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BF6E7-4222-44E5-9DB5-98DE59BE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ML layer is prospective, local, and allowed to abstain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62CB3-0548-4414-BCB6-7F8A3867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404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06 / MODEL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B6869-2387-4A88-9991-57F65FA3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8D759-6500-467E-AE0E-B157DA39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AUPRC 0.517 / 0.237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E27E9-43E5-4ABA-96D1-49B3BA2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Rows flagged 33% / 57%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27978-D103-4DCC-9271-B5C11D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Runtime coverage 90%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1977B-364E-48AC-9160-124DE68B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ae015b79b4d64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7996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6644E-5A63-4AF4-AB3D-441716B3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WHY THIS CAN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E23FF-CA2E-4EED-9B78-633F63AF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13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Judges can see the value, novelty, and safety in one live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976A6-A956-418C-81AE-5F3833B7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0B1DB-DEAD-4339-A0B2-935B0EC3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8CFCE-A8E2-4D5C-9D1E-42EE4341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050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Catch adherence friction early and make escalation easier for patients.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CE015-5BB6-4D6B-B78C-AD5E44BA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A5BD5-EF47-4151-A480-0B53F652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457A6"/>
                </a:solidFill>
              </a:defRPr>
            </a:pPr>
            <a:r>
              <a:rPr sz="1050" b="1">
                <a:solidFill>
                  <a:srgbClr val="2457A6"/>
                </a:solidFill>
              </a:rPr>
              <a:t>INNOVATION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C027-7F16-47F1-AD02-6A0A997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8956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Combine prospective edge ML, an evidence map, and independent safety.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E9C2E-7C49-4A22-AEE1-9328E21C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668D2-0A93-4830-BB88-743C105F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FEASIBILITY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B7B9A-E6F6-4B25-A102-71E61D43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862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Run keyless with synthetic data, local inference, and deterministic safety.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5E79-E570-49EB-BB72-BDBF4244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82DC9-AC28-4054-9198-9EF030CE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DEMO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8514E-974D-4A9D-8C3F-BA8725C0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768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Switch from a supported coaching case to a local, unsent safety draft in one click.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C33DD4-819B-4845-B225-59024864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019175"/>
            <a:ext cx="2371725" cy="516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4b102da6754895"/>
          <a:stretch xmlns:a="http://schemas.openxmlformats.org/drawingml/2006/main"/>
        </p:blipFill>
        <p:spPr>
          <a:xfrm xmlns:a="http://schemas.openxmlformats.org/drawingml/2006/main" flipH="0" flipV="0">
            <a:off x="8839880" y="1028700"/>
            <a:ext cx="2351314" cy="5143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1132F-DAEC-4D33-9DCD-2E514FC7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918"/>
                </a:solidFill>
              </a:defRPr>
            </a:pPr>
            <a:r>
              <a:rPr sz="1200" b="1">
                <a:solidFill>
                  <a:srgbClr val="171918"/>
                </a:solidFill>
              </a:rPr>
              <a:t>PREDICT → EXPLAIN → TEST → HAND OFF SAFELY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28DC9-A5EC-4834-A1EF-6BF3D887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62185E-3238-40B5-BF72-3ACD5BB3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6E1A8-8BBD-4AF8-8C12-62B2BE9A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65249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2026-07-12T16:43:46.3110000Z</dcterms:created>
  <dcterms:modified xsi:type="dcterms:W3CDTF">2026-07-12T16:43:46.3110000Z</dcterms:modified>
</coreProperties>
</file>