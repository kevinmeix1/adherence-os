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4f2e6840b2d4dde" /><Relationship Type="http://schemas.openxmlformats.org/officeDocument/2006/relationships/extended-properties" Target="/docProps/app.xml" Id="R3b918800f0b44dd7" /><Relationship Type="http://schemas.openxmlformats.org/officeDocument/2006/relationships/officeDocument" Target="/ppt/presentation.xml" Id="Rd01150603ce640d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135ee64c83c4073"/>
  </p:sldMasterIdLst>
  <p:notesMasterIdLst>
    <p:notesMasterId xmlns:r="http://schemas.openxmlformats.org/officeDocument/2006/relationships" r:id="R16a44fd93111425e"/>
  </p:notesMasterIdLst>
  <p:sldIdLst>
    <p:sldId xmlns:r="http://schemas.openxmlformats.org/officeDocument/2006/relationships" id="256" r:id="R33610fee40e54443"/>
    <p:sldId xmlns:r="http://schemas.openxmlformats.org/officeDocument/2006/relationships" id="257" r:id="Red86e0d3ac454954"/>
    <p:sldId xmlns:r="http://schemas.openxmlformats.org/officeDocument/2006/relationships" id="258" r:id="R4d4bef340c504021"/>
    <p:sldId xmlns:r="http://schemas.openxmlformats.org/officeDocument/2006/relationships" id="259" r:id="Rb5fc31b2ec6240da"/>
    <p:sldId xmlns:r="http://schemas.openxmlformats.org/officeDocument/2006/relationships" id="260" r:id="R6b61fc8961764f6a"/>
    <p:sldId xmlns:r="http://schemas.openxmlformats.org/officeDocument/2006/relationships" id="261" r:id="R4cb6219affd1489c"/>
    <p:sldId xmlns:r="http://schemas.openxmlformats.org/officeDocument/2006/relationships" id="262" r:id="Rf6db507e893e4bfd"/>
    <p:sldId xmlns:r="http://schemas.openxmlformats.org/officeDocument/2006/relationships" id="263" r:id="R12fc326d56e442d6"/>
    <p:sldId xmlns:r="http://schemas.openxmlformats.org/officeDocument/2006/relationships" id="264" r:id="Re7a13c20e8354580"/>
    <p:sldId xmlns:r="http://schemas.openxmlformats.org/officeDocument/2006/relationships" id="265" r:id="Rc4650ce35b114ee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1b324405dad40ec" /><Relationship Type="http://schemas.openxmlformats.org/officeDocument/2006/relationships/slideMaster" Target="/ppt/slideMasters/slideMaster1.xml" Id="R0135ee64c83c4073" /><Relationship Type="http://schemas.openxmlformats.org/officeDocument/2006/relationships/notesMaster" Target="/ppt/notesMasters/notesMaster1.xml" Id="R16a44fd93111425e" /><Relationship Type="http://schemas.openxmlformats.org/officeDocument/2006/relationships/presProps" Target="/ppt/presProps.xml" Id="R08321804bef045c3" /><Relationship Type="http://schemas.openxmlformats.org/officeDocument/2006/relationships/tableStyles" Target="/ppt/tableStyles.xml" Id="Rd7a255c4120b4862" /><Relationship Type="http://schemas.openxmlformats.org/officeDocument/2006/relationships/slide" Target="/ppt/slides/slide1.xml" Id="R33610fee40e54443" /><Relationship Type="http://schemas.openxmlformats.org/officeDocument/2006/relationships/slide" Target="/ppt/slides/slide2.xml" Id="Red86e0d3ac454954" /><Relationship Type="http://schemas.openxmlformats.org/officeDocument/2006/relationships/slide" Target="/ppt/slides/slide3.xml" Id="R4d4bef340c504021" /><Relationship Type="http://schemas.openxmlformats.org/officeDocument/2006/relationships/slide" Target="/ppt/slides/slide4.xml" Id="Rb5fc31b2ec6240da" /><Relationship Type="http://schemas.openxmlformats.org/officeDocument/2006/relationships/slide" Target="/ppt/slides/slide5.xml" Id="R6b61fc8961764f6a" /><Relationship Type="http://schemas.openxmlformats.org/officeDocument/2006/relationships/slide" Target="/ppt/slides/slide6.xml" Id="R4cb6219affd1489c" /><Relationship Type="http://schemas.openxmlformats.org/officeDocument/2006/relationships/slide" Target="/ppt/slides/slide7.xml" Id="Rf6db507e893e4bfd" /><Relationship Type="http://schemas.openxmlformats.org/officeDocument/2006/relationships/slide" Target="/ppt/slides/slide8.xml" Id="R12fc326d56e442d6" /><Relationship Type="http://schemas.openxmlformats.org/officeDocument/2006/relationships/slide" Target="/ppt/slides/slide9.xml" Id="Re7a13c20e8354580" /><Relationship Type="http://schemas.openxmlformats.org/officeDocument/2006/relationships/slide" Target="/ppt/slides/slide10.xml" Id="Rc4650ce35b114ee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bd54d740f2f4c7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6f8045d60294144" /><Relationship Type="http://schemas.openxmlformats.org/officeDocument/2006/relationships/notesMaster" Target="/ppt/notesMasters/notesMaster1.xml" Id="R17974de8b98542c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c20c7ad2bec4c48" /><Relationship Type="http://schemas.openxmlformats.org/officeDocument/2006/relationships/notesMaster" Target="/ppt/notesMasters/notesMaster1.xml" Id="R071433768f004cf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505cb3895d24b85" /><Relationship Type="http://schemas.openxmlformats.org/officeDocument/2006/relationships/notesMaster" Target="/ppt/notesMasters/notesMaster1.xml" Id="R47ac2f7527fb46d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8e4d04214c64e7b" /><Relationship Type="http://schemas.openxmlformats.org/officeDocument/2006/relationships/notesMaster" Target="/ppt/notesMasters/notesMaster1.xml" Id="R646b3fa3d5b44df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eff6cd6c3694557" /><Relationship Type="http://schemas.openxmlformats.org/officeDocument/2006/relationships/notesMaster" Target="/ppt/notesMasters/notesMaster1.xml" Id="R3548396ddd3540f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cc22b788b784f1a" /><Relationship Type="http://schemas.openxmlformats.org/officeDocument/2006/relationships/notesMaster" Target="/ppt/notesMasters/notesMaster1.xml" Id="R353195b7706b41d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16c4c5534534e24" /><Relationship Type="http://schemas.openxmlformats.org/officeDocument/2006/relationships/notesMaster" Target="/ppt/notesMasters/notesMaster1.xml" Id="R00c33dabb325470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8d50fa009e84892" /><Relationship Type="http://schemas.openxmlformats.org/officeDocument/2006/relationships/notesMaster" Target="/ppt/notesMasters/notesMaster1.xml" Id="Rdb6128996f4b4a5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5d3da59c07548e4" /><Relationship Type="http://schemas.openxmlformats.org/officeDocument/2006/relationships/notesMaster" Target="/ppt/notesMasters/notesMaster1.xml" Id="R152cfc4f4cb6468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d0fa32e8c294456" /><Relationship Type="http://schemas.openxmlformats.org/officeDocument/2006/relationships/notesMaster" Target="/ppt/notesMasters/notesMaster1.xml" Id="R02608f3d1b02424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e921a578d24490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fc039613565410c" /><Relationship Type="http://schemas.openxmlformats.org/officeDocument/2006/relationships/slideLayout" Target="/ppt/slideLayouts/slideLayout1.xml" Id="R35100e8d0d9a476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5100e8d0d9a476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1580727854461f" /><Relationship Type="http://schemas.openxmlformats.org/officeDocument/2006/relationships/notesSlide" Target="/ppt/notesSlides/notesSlide1.xml" Id="R1327d638adad475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16d8c925f84980" /><Relationship Type="http://schemas.openxmlformats.org/officeDocument/2006/relationships/image" Target="/ppt/media/image.jpeg" Id="R6b7dc08405ac4916" /><Relationship Type="http://schemas.openxmlformats.org/officeDocument/2006/relationships/notesSlide" Target="/ppt/notesSlides/notesSlide2.xml" Id="Re1c101c90b6b4e1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a725a12895444b" /><Relationship Type="http://schemas.openxmlformats.org/officeDocument/2006/relationships/notesSlide" Target="/ppt/notesSlides/notesSlide3.xml" Id="Ra1edec4d43ad4f5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a19e3eb66a4615" /><Relationship Type="http://schemas.openxmlformats.org/officeDocument/2006/relationships/image" Target="/ppt/media/image2.jpeg" Id="R256ad90baf544275" /><Relationship Type="http://schemas.openxmlformats.org/officeDocument/2006/relationships/notesSlide" Target="/ppt/notesSlides/notesSlide4.xml" Id="Reb2972845a664be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14833dce4b4329" /><Relationship Type="http://schemas.openxmlformats.org/officeDocument/2006/relationships/image" Target="/ppt/media/image3.jpeg" Id="R973d81c199a4486a" /><Relationship Type="http://schemas.openxmlformats.org/officeDocument/2006/relationships/notesSlide" Target="/ppt/notesSlides/notesSlide5.xml" Id="R21c9b355f6b1418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dfe6c37ee84c9c" /><Relationship Type="http://schemas.openxmlformats.org/officeDocument/2006/relationships/image" Target="/ppt/media/image4.jpeg" Id="R7f96b910e98a41c5" /><Relationship Type="http://schemas.openxmlformats.org/officeDocument/2006/relationships/notesSlide" Target="/ppt/notesSlides/notesSlide6.xml" Id="R89f556fc05a8497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1e54792d2f4f53" /><Relationship Type="http://schemas.openxmlformats.org/officeDocument/2006/relationships/image" Target="/ppt/media/image5.jpeg" Id="R193d9d7371b8493c" /><Relationship Type="http://schemas.openxmlformats.org/officeDocument/2006/relationships/notesSlide" Target="/ppt/notesSlides/notesSlide7.xml" Id="R6aebfc70b1af48c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53865c739541f0" /><Relationship Type="http://schemas.openxmlformats.org/officeDocument/2006/relationships/image" Target="/ppt/media/image6.jpeg" Id="R67d6f0b4d0b54e30" /><Relationship Type="http://schemas.openxmlformats.org/officeDocument/2006/relationships/notesSlide" Target="/ppt/notesSlides/notesSlide8.xml" Id="Rc1b0df60b5b3498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73f8be16c947f2" /><Relationship Type="http://schemas.openxmlformats.org/officeDocument/2006/relationships/image" Target="/ppt/media/image7.jpeg" Id="Re553b94f69ee4504" /><Relationship Type="http://schemas.openxmlformats.org/officeDocument/2006/relationships/notesSlide" Target="/ppt/notesSlides/notesSlide9.xml" Id="Rbc9694e49dfb475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ca975995f14749" /><Relationship Type="http://schemas.openxmlformats.org/officeDocument/2006/relationships/image" Target="/ppt/media/image8.jpeg" Id="Rfcbec3fb6a7a4a23" /><Relationship Type="http://schemas.openxmlformats.org/officeDocument/2006/relationships/notesSlide" Target="/ppt/notesSlides/notesSlide10.xml" Id="Rfbbe50a07ada480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2F2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BA6AE1C-0D53-4FA9-8623-386352D4E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43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918"/>
          </a:solidFill>
          <a:ln xmlns:a="http://schemas.openxmlformats.org/drawingml/2006/main" w="0">
            <a:solidFill>
              <a:srgbClr val="171918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A655CC-8CCC-4175-B927-44A86F69B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85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A/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5ACFFE-E1DF-42FA-9370-FC3F4F38B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524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REIMAGINE HEALTH / EMED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ADED4B-8BAF-40AF-9BD9-E481A9639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14500"/>
            <a:ext cx="7239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171918"/>
                </a:solidFill>
              </a:defRPr>
            </a:pPr>
            <a:r>
              <a:rPr sz="5100" b="1">
                <a:solidFill>
                  <a:srgbClr val="171918"/>
                </a:solidFill>
              </a:rPr>
              <a:t>Adherence 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413D4B-5143-4D6B-8A8C-73965DD79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8382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606662"/>
                </a:solidFill>
              </a:defRPr>
            </a:pPr>
            <a:r>
              <a:rPr sz="2025" b="0">
                <a:solidFill>
                  <a:srgbClr val="606662"/>
                </a:solidFill>
              </a:rPr>
              <a:t>An AI decision layer for safer at-home GLP-1 adherence support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B293AF-A4A6-480A-808D-FE808515B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957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EB9"/>
          </a:solidFill>
          <a:ln xmlns:a="http://schemas.openxmlformats.org/drawingml/2006/main" w="0">
            <a:solidFill>
              <a:srgbClr val="B9BEB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A24EE9-9BD8-4CE3-AF5A-61C304BE9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005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06B58"/>
                </a:solidFill>
              </a:defRPr>
            </a:pPr>
            <a:r>
              <a:rPr sz="1050" b="1">
                <a:solidFill>
                  <a:srgbClr val="006B58"/>
                </a:solidFill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B6B701-BC8A-48F3-99D7-58B706576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9650"/>
            <a:ext cx="2333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1918"/>
                </a:solidFill>
              </a:defRPr>
            </a:pPr>
            <a:r>
              <a:rPr sz="1425" b="1">
                <a:solidFill>
                  <a:srgbClr val="171918"/>
                </a:solidFill>
              </a:rPr>
              <a:t>PREDICT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C1CD24-755B-48EF-BC4A-8569CA901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4005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06B58"/>
                </a:solidFill>
              </a:defRPr>
            </a:pPr>
            <a:r>
              <a:rPr sz="1050" b="1">
                <a:solidFill>
                  <a:srgbClr val="006B58"/>
                </a:solidFill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A0492E-3252-4E3C-8BF9-917C00BB9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819650"/>
            <a:ext cx="2333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1918"/>
                </a:solidFill>
              </a:defRPr>
            </a:pPr>
            <a:r>
              <a:rPr sz="1425" b="1">
                <a:solidFill>
                  <a:srgbClr val="171918"/>
                </a:solidFill>
              </a:rPr>
              <a:t>EXPLAIN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15CF98-93E3-40A3-9348-306988D82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4005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06B58"/>
                </a:solidFill>
              </a:defRPr>
            </a:pPr>
            <a:r>
              <a:rPr sz="1050" b="1">
                <a:solidFill>
                  <a:srgbClr val="006B58"/>
                </a:solidFill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58FBCF-F5E1-4213-87D3-91DF85464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819650"/>
            <a:ext cx="2333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1918"/>
                </a:solidFill>
              </a:defRPr>
            </a:pPr>
            <a:r>
              <a:rPr sz="1425" b="1">
                <a:solidFill>
                  <a:srgbClr val="171918"/>
                </a:solidFill>
              </a:rPr>
              <a:t>TEST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54AC58-9929-449C-93F6-C67B2133F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4005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42318"/>
                </a:solidFill>
              </a:defRPr>
            </a:pPr>
            <a:r>
              <a:rPr sz="1050" b="1">
                <a:solidFill>
                  <a:srgbClr val="B42318"/>
                </a:solidFill>
              </a:rPr>
              <a:t>04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AAE3EC-3782-4880-8214-FFDD8BAA8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819650"/>
            <a:ext cx="2333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1918"/>
                </a:solidFill>
              </a:defRPr>
            </a:pPr>
            <a:r>
              <a:rPr sz="1425" b="1">
                <a:solidFill>
                  <a:srgbClr val="171918"/>
                </a:solidFill>
              </a:rPr>
              <a:t>REVIEW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5744EC-A354-456B-855F-1D7B6FE9A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10250"/>
            <a:ext cx="685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06662"/>
                </a:solidFill>
              </a:defRPr>
            </a:pPr>
            <a:r>
              <a:rPr sz="1350" b="0">
                <a:solidFill>
                  <a:srgbClr val="606662"/>
                </a:solidFill>
              </a:rPr>
              <a:t>Local ML + typed evidence map + deterministic safety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04932A-09CF-4283-8AD0-633C845E8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EB9"/>
          </a:solidFill>
          <a:ln xmlns:a="http://schemas.openxmlformats.org/drawingml/2006/main" w="0">
            <a:solidFill>
              <a:srgbClr val="B9BEB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C141D8-D39F-481A-91C4-4F5E2186F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06662"/>
                </a:solidFill>
              </a:defRPr>
            </a:pPr>
            <a:r>
              <a:rPr sz="750" b="1">
                <a:solidFill>
                  <a:srgbClr val="606662"/>
                </a:solidFill>
              </a:rPr>
              <a:t>SYNTHETIC PROTOTYPE / NOT CLINICAL VALIDATION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00EBFA5-B485-4B5A-B4C2-F04C9F8F3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7225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06662"/>
                </a:solidFill>
              </a:defRPr>
            </a:pPr>
            <a:r>
              <a:rPr sz="750" b="1">
                <a:solidFill>
                  <a:srgbClr val="606662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17315776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2F2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84D4E73-2F09-4234-97AF-DE42C1339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THE PATIENT NEED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79B2DD-2B9C-4598-97D5-8B2171602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47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1918"/>
                </a:solidFill>
              </a:defRPr>
            </a:pPr>
            <a:r>
              <a:rPr sz="2850" b="1">
                <a:solidFill>
                  <a:srgbClr val="171918"/>
                </a:solidFill>
              </a:rPr>
              <a:t>Chronic care breaks in the time between appointments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B67D3B-772D-4451-9902-EDB975A08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5260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6B58"/>
                </a:solidFill>
              </a:defRPr>
            </a:pPr>
            <a:r>
              <a:rPr sz="975" b="1">
                <a:solidFill>
                  <a:srgbClr val="006B58"/>
                </a:solidFill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7A8144-6509-4A63-82D2-BDA8BAA8F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335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8406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71918"/>
                </a:solidFill>
              </a:defRPr>
            </a:pPr>
            <a:r>
              <a:rPr sz="1725" b="1">
                <a:solidFill>
                  <a:srgbClr val="171918"/>
                </a:solidFill>
              </a:rPr>
              <a:t>Friction accumulates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64D189-4285-45BA-A0CA-FD483DE73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14550"/>
            <a:ext cx="323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06662"/>
                </a:solidFill>
              </a:defRPr>
            </a:pPr>
            <a:r>
              <a:rPr sz="1275" b="0">
                <a:solidFill>
                  <a:srgbClr val="606662"/>
                </a:solidFill>
              </a:rPr>
              <a:t>Symptoms, routine changes, and missed doses become a pattern before the next appointment.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954FCC-CF21-4AA6-B9CA-BCC6DE29E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051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6B58"/>
                </a:solidFill>
              </a:defRPr>
            </a:pPr>
            <a:r>
              <a:rPr sz="975" b="1">
                <a:solidFill>
                  <a:srgbClr val="006B58"/>
                </a:solidFill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09DC25-24CC-4839-8198-70C5FBE1B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8610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8406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71918"/>
                </a:solidFill>
              </a:defRPr>
            </a:pPr>
            <a:r>
              <a:rPr sz="1725" b="1">
                <a:solidFill>
                  <a:srgbClr val="171918"/>
                </a:solidFill>
              </a:rPr>
              <a:t>Data is hard to interpret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F0126C-8CF3-4789-83E0-5BE30F978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67100"/>
            <a:ext cx="323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06662"/>
                </a:solidFill>
              </a:defRPr>
            </a:pPr>
            <a:r>
              <a:rPr sz="1275" b="0">
                <a:solidFill>
                  <a:srgbClr val="606662"/>
                </a:solidFill>
              </a:rPr>
              <a:t>Patients should not have to decide which home signal matters or when to seek help.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B6260B-214B-48ED-812D-F6AA2016A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5770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6B58"/>
                </a:solidFill>
              </a:defRPr>
            </a:pPr>
            <a:r>
              <a:rPr sz="975" b="1">
                <a:solidFill>
                  <a:srgbClr val="006B58"/>
                </a:solidFill>
              </a:rPr>
              <a:t>03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315A65-9DAB-4235-A02C-5C92BCE7A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4386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8406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71918"/>
                </a:solidFill>
              </a:defRPr>
            </a:pPr>
            <a:r>
              <a:rPr sz="1725" b="1">
                <a:solidFill>
                  <a:srgbClr val="171918"/>
                </a:solidFill>
              </a:rPr>
              <a:t>Clinical attention is scarce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BBED0D-C12B-448A-B57B-CC47CFF1F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819650"/>
            <a:ext cx="323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06662"/>
                </a:solidFill>
              </a:defRPr>
            </a:pPr>
            <a:r>
              <a:rPr sz="1275" b="0">
                <a:solidFill>
                  <a:srgbClr val="606662"/>
                </a:solidFill>
              </a:rPr>
              <a:t>Care teams need a concise record that makes rule-matched review evidence obvious.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C2E229-544E-4616-A0BB-65FD54CA0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1666875"/>
            <a:ext cx="6972300" cy="393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BEB9"/>
            </a:solidFill>
            <a:prstDash val="solid"/>
          </a:ln>
        </p:spPr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7dc08405ac4916"/>
          <a:stretch xmlns:a="http://schemas.openxmlformats.org/drawingml/2006/main"/>
        </p:blipFill>
        <p:spPr>
          <a:xfrm xmlns:a="http://schemas.openxmlformats.org/drawingml/2006/main" flipH="0" flipV="0">
            <a:off x="4705350" y="1678186"/>
            <a:ext cx="6953250" cy="3911203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1CA42F-86AC-4645-BC1D-D83F099E1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EB9"/>
          </a:solidFill>
          <a:ln xmlns:a="http://schemas.openxmlformats.org/drawingml/2006/main" w="0">
            <a:solidFill>
              <a:srgbClr val="B9BEB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1C0D81-A9E0-42DA-87A2-097D4FCBC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06662"/>
                </a:solidFill>
              </a:defRPr>
            </a:pPr>
            <a:r>
              <a:rPr sz="750" b="1">
                <a:solidFill>
                  <a:srgbClr val="606662"/>
                </a:solidFill>
              </a:rPr>
              <a:t>SYNTHETIC PROTOTYPE / NOT CLINICAL VALIDATION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D02C4B-A873-4789-9233-E90C91B98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7225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06662"/>
                </a:solidFill>
              </a:defRPr>
            </a:pPr>
            <a:r>
              <a:rPr sz="750" b="1">
                <a:solidFill>
                  <a:srgbClr val="606662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4272039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2F2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1D4B1A4-6C74-4EF7-A68B-FF0F5C8AF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DECISION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6607FE-980A-4164-BAF9-4C65C63B2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1918"/>
                </a:solidFill>
              </a:defRPr>
            </a:pPr>
            <a:r>
              <a:rPr sz="2850" b="1">
                <a:solidFill>
                  <a:srgbClr val="171918"/>
                </a:solidFill>
              </a:rPr>
              <a:t>One ledger separates model inference from deterministic safety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E49798-92DD-40B8-A5D4-638B44C76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38350"/>
            <a:ext cx="24003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BEB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3CDA9D-0D38-4494-B62E-277CA0610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38350"/>
            <a:ext cx="2400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58"/>
          </a:solidFill>
          <a:ln xmlns:a="http://schemas.openxmlformats.org/drawingml/2006/main" w="0">
            <a:solidFill>
              <a:srgbClr val="006B5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94AB19-FE89-4274-AD77-8E2CEE453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OBSERVE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55E70A-1238-412E-B9B1-463D6345E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05100"/>
            <a:ext cx="2057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71918"/>
                </a:solidFill>
              </a:defRPr>
            </a:pPr>
            <a:r>
              <a:rPr sz="1875" b="1">
                <a:solidFill>
                  <a:srgbClr val="171918"/>
                </a:solidFill>
              </a:rPr>
              <a:t>Home check-in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6BE2CB-DC9D-41A8-9370-9480AFA96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90900"/>
            <a:ext cx="20574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06662"/>
                </a:solidFill>
              </a:defRPr>
            </a:pPr>
            <a:r>
              <a:rPr sz="1275" b="0">
                <a:solidFill>
                  <a:srgbClr val="606662"/>
                </a:solidFill>
              </a:rPr>
              <a:t>Dose event, symptoms, hydration, routine, language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57C249-0B0F-46A8-A81A-F1DA6F346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933700"/>
            <a:ext cx="361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6715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B9BEB9"/>
                </a:solidFill>
              </a:defRPr>
            </a:pPr>
            <a:r>
              <a:rPr sz="2100" b="1">
                <a:solidFill>
                  <a:srgbClr val="B9BEB9"/>
                </a:solidFill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912FB6-7ECE-4971-AE34-20A05EA8C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038350"/>
            <a:ext cx="24003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BEB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E47DBE-4632-41E8-B6D4-5DA4416C1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038350"/>
            <a:ext cx="2400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7A6"/>
          </a:solidFill>
          <a:ln xmlns:a="http://schemas.openxmlformats.org/drawingml/2006/main" w="0">
            <a:solidFill>
              <a:srgbClr val="2457A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C58DD2-01DA-444A-99BA-264E973BE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2860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PREDICT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D83009-05F8-43FE-AD4A-3D270D85A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705100"/>
            <a:ext cx="2057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71918"/>
                </a:solidFill>
              </a:defRPr>
            </a:pPr>
            <a:r>
              <a:rPr sz="1875" b="1">
                <a:solidFill>
                  <a:srgbClr val="171918"/>
                </a:solidFill>
              </a:rPr>
              <a:t>Local risk model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8ABB3C-69FD-4ED1-98C0-877C039F2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390900"/>
            <a:ext cx="20574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06662"/>
                </a:solidFill>
              </a:defRPr>
            </a:pPr>
            <a:r>
              <a:rPr sz="1275" b="0">
                <a:solidFill>
                  <a:srgbClr val="606662"/>
                </a:solidFill>
              </a:rPr>
              <a:t>Prospective score, marginal bounds, exact decomposition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0528EF-2A47-4399-BF75-99E4C7BB6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2933700"/>
            <a:ext cx="361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6715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B9BEB9"/>
                </a:solidFill>
              </a:defRPr>
            </a:pPr>
            <a:r>
              <a:rPr sz="2100" b="1">
                <a:solidFill>
                  <a:srgbClr val="B9BEB9"/>
                </a:solidFill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98BBEC-FFE1-463A-AF3A-A660CE370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38350"/>
            <a:ext cx="24003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BEB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55339A6-F587-40F8-814A-B66B7F32D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38350"/>
            <a:ext cx="2400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58"/>
          </a:solidFill>
          <a:ln xmlns:a="http://schemas.openxmlformats.org/drawingml/2006/main" w="0">
            <a:solidFill>
              <a:srgbClr val="006B5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573C22E-B847-413F-A1EE-652ED6DD6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2860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EXPLAIN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5C120F-5464-4052-809E-EDF080F9A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705100"/>
            <a:ext cx="2057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71918"/>
                </a:solidFill>
              </a:defRPr>
            </a:pPr>
            <a:r>
              <a:rPr sz="1875" b="1">
                <a:solidFill>
                  <a:srgbClr val="171918"/>
                </a:solidFill>
              </a:rPr>
              <a:t>Evidence map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DD6338-8E93-4479-A3F4-9EC7DAE09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390900"/>
            <a:ext cx="20574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06662"/>
                </a:solidFill>
              </a:defRPr>
            </a:pPr>
            <a:r>
              <a:rPr sz="1275" b="0">
                <a:solidFill>
                  <a:srgbClr val="606662"/>
                </a:solidFill>
              </a:rPr>
              <a:t>Context signal, model contributor, tested-action comparison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BBA837A-047B-4406-A7E1-3B6D06774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933700"/>
            <a:ext cx="361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6715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B9BEB9"/>
                </a:solidFill>
              </a:defRPr>
            </a:pPr>
            <a:r>
              <a:rPr sz="2100" b="1">
                <a:solidFill>
                  <a:srgbClr val="B9BEB9"/>
                </a:solidFill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E460053-A5B7-4956-8EE4-7AFD1A7C8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038350"/>
            <a:ext cx="24003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BEB9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38E4DBB-A0A1-4C1A-9FF4-7BB6D0853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038350"/>
            <a:ext cx="2400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B4231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9706B97-07BD-4480-B799-01EEE75BF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2860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OWN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E8CD983-402E-4DDE-AD30-9DCAF35A3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705100"/>
            <a:ext cx="2057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9346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71918"/>
                </a:solidFill>
              </a:defRPr>
            </a:pPr>
            <a:r>
              <a:rPr sz="1875" b="1">
                <a:solidFill>
                  <a:srgbClr val="171918"/>
                </a:solidFill>
              </a:rPr>
              <a:t>Local review draft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E9CFFB4-0730-4658-AA7E-AF650FED5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390900"/>
            <a:ext cx="20574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06662"/>
                </a:solidFill>
              </a:defRPr>
            </a:pPr>
            <a:r>
              <a:rPr sz="1275" b="0">
                <a:solidFill>
                  <a:srgbClr val="606662"/>
                </a:solidFill>
              </a:rPr>
              <a:t>Rule trigger, in-memory state, unsent draft, audit trail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BA8E10F-D5C2-42B4-AD8A-57A60BE92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57750"/>
            <a:ext cx="111252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F"/>
          </a:solidFill>
          <a:ln xmlns:a="http://schemas.openxmlformats.org/drawingml/2006/main" w="9525">
            <a:solidFill>
              <a:srgbClr val="B4231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7C53FD9-6084-457C-BE19-4CD689A46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57775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7619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42318"/>
                </a:solidFill>
              </a:defRPr>
            </a:pPr>
            <a:r>
              <a:rPr sz="1050" b="1">
                <a:solidFill>
                  <a:srgbClr val="B42318"/>
                </a:solidFill>
              </a:rPr>
              <a:t>DETERMINISTIC SAFETY OVERRIDE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4087C76-D6EC-410E-9951-63922E233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5010150"/>
            <a:ext cx="723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8298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918"/>
                </a:solidFill>
              </a:defRPr>
            </a:pPr>
            <a:r>
              <a:rPr sz="1650" b="1">
                <a:solidFill>
                  <a:srgbClr val="171918"/>
                </a:solidFill>
              </a:rPr>
              <a:t>Red flags suppress coaching and every tested action, even when the model abstains.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DB507B2-8CF7-46DD-8125-8E25D3752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EB9"/>
          </a:solidFill>
          <a:ln xmlns:a="http://schemas.openxmlformats.org/drawingml/2006/main" w="0">
            <a:solidFill>
              <a:srgbClr val="B9BEB9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23F1FFF-5A62-4C0A-822B-AD05FFC83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06662"/>
                </a:solidFill>
              </a:defRPr>
            </a:pPr>
            <a:r>
              <a:rPr sz="750" b="1">
                <a:solidFill>
                  <a:srgbClr val="606662"/>
                </a:solidFill>
              </a:rPr>
              <a:t>SYNTHETIC PROTOTYPE / NOT CLINICAL VALIDATION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BC03957-67E2-44D2-979A-83AD3298A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7225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06662"/>
                </a:solidFill>
              </a:defRPr>
            </a:pPr>
            <a:r>
              <a:rPr sz="750" b="1">
                <a:solidFill>
                  <a:srgbClr val="606662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584918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2F2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5618429-1DC7-410F-94F9-72B9D708A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COACHING STATE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B4D2C0-B778-45AB-842F-06D566D7C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1918"/>
                </a:solidFill>
              </a:defRPr>
            </a:pPr>
            <a:r>
              <a:rPr sz="2850" b="1">
                <a:solidFill>
                  <a:srgbClr val="171918"/>
                </a:solidFill>
              </a:rPr>
              <a:t>The first screen is an inspectable decision, not a dashboard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F62D48-84B0-4F1C-A08B-D612EED2F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8911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01 / CURRENT CASE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76F210-7BEC-41FF-A30F-11DD551B8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33550"/>
            <a:ext cx="419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58"/>
          </a:solidFill>
          <a:ln xmlns:a="http://schemas.openxmlformats.org/drawingml/2006/main" w="0">
            <a:solidFill>
              <a:srgbClr val="006B5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6AF07F-6B9C-4661-BBC3-8192457E4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4310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9532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1918"/>
                </a:solidFill>
              </a:defRPr>
            </a:pPr>
            <a:r>
              <a:rPr sz="1425" b="1">
                <a:solidFill>
                  <a:srgbClr val="171918"/>
                </a:solidFill>
              </a:rPr>
              <a:t>46% supported score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1B6815-450B-48C9-9764-17A6BB9C7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8605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06662"/>
                </a:solidFill>
              </a:defRPr>
            </a:pPr>
            <a:r>
              <a:rPr sz="1125" b="0">
                <a:solidFill>
                  <a:srgbClr val="606662"/>
                </a:solidFill>
              </a:rPr>
              <a:t>Risk-raising signal visible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976C6B-3D3E-425D-8137-F87852219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06662"/>
                </a:solidFill>
              </a:defRPr>
            </a:pPr>
            <a:r>
              <a:rPr sz="1125" b="0">
                <a:solidFill>
                  <a:srgbClr val="606662"/>
                </a:solidFill>
              </a:rPr>
              <a:t>Watch / no handoff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DB09F5-C41D-411F-A154-8965A00C1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1247775"/>
            <a:ext cx="9772650" cy="550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BEB9"/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6ad90baf544275"/>
          <a:stretch xmlns:a="http://schemas.openxmlformats.org/drawingml/2006/main"/>
        </p:blipFill>
        <p:spPr>
          <a:xfrm xmlns:a="http://schemas.openxmlformats.org/drawingml/2006/main" flipH="0" flipV="0">
            <a:off x="1847850" y="1257300"/>
            <a:ext cx="9753600" cy="5486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413517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2F2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6261544-9A2B-46AF-937B-5B53B546B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EXPLAINABILITY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7B6CC9-19F7-4BC0-8379-99A8B2083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1918"/>
                </a:solidFill>
              </a:defRPr>
            </a:pPr>
            <a:r>
              <a:rPr sz="2850" b="1">
                <a:solidFill>
                  <a:srgbClr val="171918"/>
                </a:solidFill>
              </a:rPr>
              <a:t>The map separates context from model contribution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DC8497-1FB1-4D67-B653-85B978F17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0781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02 / ATTRIBUTION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926969-E955-45A3-A837-173211D05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33550"/>
            <a:ext cx="419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7A6"/>
          </a:solidFill>
          <a:ln xmlns:a="http://schemas.openxmlformats.org/drawingml/2006/main" w="0">
            <a:solidFill>
              <a:srgbClr val="2457A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A79254-C88D-41B3-8E7A-0CD756608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4310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1918"/>
                </a:solidFill>
              </a:defRPr>
            </a:pPr>
            <a:r>
              <a:rPr sz="1425" b="1">
                <a:solidFill>
                  <a:srgbClr val="171918"/>
                </a:solidFill>
              </a:rPr>
              <a:t>Appetite + energy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3B7124-33FB-448D-A412-D12DA356A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8605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06662"/>
                </a:solidFill>
              </a:defRPr>
            </a:pPr>
            <a:r>
              <a:rPr sz="1125" b="0">
                <a:solidFill>
                  <a:srgbClr val="606662"/>
                </a:solidFill>
              </a:rPr>
              <a:t>Nausea burden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4A6F68-49FF-4B9F-96B8-0830F61F8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06662"/>
                </a:solidFill>
              </a:defRPr>
            </a:pPr>
            <a:r>
              <a:rPr sz="1125" b="0">
                <a:solidFill>
                  <a:srgbClr val="606662"/>
                </a:solidFill>
              </a:rPr>
              <a:t>Typed provenance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1F7B2A-3832-46C5-83E3-2D0B3D21E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1247775"/>
            <a:ext cx="9772650" cy="550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BEB9"/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3d81c199a4486a"/>
          <a:stretch xmlns:a="http://schemas.openxmlformats.org/drawingml/2006/main"/>
        </p:blipFill>
        <p:spPr>
          <a:xfrm xmlns:a="http://schemas.openxmlformats.org/drawingml/2006/main" flipH="0" flipV="0">
            <a:off x="1847850" y="1257300"/>
            <a:ext cx="9753600" cy="5486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384980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2F2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9274D4C-38A0-4937-80B9-D34E4DEAD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BOUNDED PLANNING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FBD207-1237-4828-A0BC-339859B17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1918"/>
                </a:solidFill>
              </a:defRPr>
            </a:pPr>
            <a:r>
              <a:rPr sz="2850" b="1">
                <a:solidFill>
                  <a:srgbClr val="171918"/>
                </a:solidFill>
              </a:rPr>
              <a:t>Tested actions are transparent assumptions, not causal claims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AC9D85-6127-4C2D-9E19-000942E87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845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03 / TESTED ACTION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6BE59F-A382-4FCB-A1F7-3DE4785A3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33550"/>
            <a:ext cx="419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7A6"/>
          </a:solidFill>
          <a:ln xmlns:a="http://schemas.openxmlformats.org/drawingml/2006/main" w="0">
            <a:solidFill>
              <a:srgbClr val="2457A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CAA5B7-18E0-4383-BEB4-2F5ADD13A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4310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1918"/>
                </a:solidFill>
              </a:defRPr>
            </a:pPr>
            <a:r>
              <a:rPr sz="1425" b="1">
                <a:solidFill>
                  <a:srgbClr val="171918"/>
                </a:solidFill>
              </a:rPr>
              <a:t>Meal timing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52F35F-8359-4DD4-A304-F0CB7729B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8605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06662"/>
                </a:solidFill>
              </a:defRPr>
            </a:pPr>
            <a:r>
              <a:rPr sz="1125" b="0">
                <a:solidFill>
                  <a:srgbClr val="606662"/>
                </a:solidFill>
              </a:rPr>
              <a:t>−19 pp scenario score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76B25A-82FC-4B00-BA17-B710AFDB0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06662"/>
                </a:solidFill>
              </a:defRPr>
            </a:pPr>
            <a:r>
              <a:rPr sz="1125" b="0">
                <a:solidFill>
                  <a:srgbClr val="606662"/>
                </a:solidFill>
              </a:rPr>
              <a:t>Marginal bounds only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C6D7F2-4A67-423F-BE0C-E4D78A60D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1247775"/>
            <a:ext cx="9772650" cy="550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BEB9"/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96b910e98a41c5"/>
          <a:stretch xmlns:a="http://schemas.openxmlformats.org/drawingml/2006/main"/>
        </p:blipFill>
        <p:spPr>
          <a:xfrm xmlns:a="http://schemas.openxmlformats.org/drawingml/2006/main" flipH="0" flipV="0">
            <a:off x="1847850" y="1257300"/>
            <a:ext cx="9753600" cy="5486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487309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2F2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56EAD34-458D-417F-A860-71237289F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SAFETY OVERRIDE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DB22D0-8482-4A0C-9B70-2C0D96931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1918"/>
                </a:solidFill>
              </a:defRPr>
            </a:pPr>
            <a:r>
              <a:rPr sz="2850" b="1">
                <a:solidFill>
                  <a:srgbClr val="171918"/>
                </a:solidFill>
              </a:rPr>
              <a:t>When red flags appear, the model abstains and safety still acts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392D66-9423-40DE-8E4F-22A65A18C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822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04 / SAFETY CASE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390E47-4A4E-404E-81F0-9ECCF7893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33550"/>
            <a:ext cx="419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B423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BD9BF3-C088-4F2B-B502-ADA3970DD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4310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1918"/>
                </a:solidFill>
              </a:defRPr>
            </a:pPr>
            <a:r>
              <a:rPr sz="1425" b="1">
                <a:solidFill>
                  <a:srgbClr val="171918"/>
                </a:solidFill>
              </a:rPr>
              <a:t>Model abstained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CFF521-6BF8-4D60-A35E-42608CB96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8605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06662"/>
                </a:solidFill>
              </a:defRPr>
            </a:pPr>
            <a:r>
              <a:rPr sz="1125" b="0">
                <a:solidFill>
                  <a:srgbClr val="606662"/>
                </a:solidFill>
              </a:rPr>
              <a:t>Actions suppressed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713FB4-6C35-4608-899D-2B8A576EF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06662"/>
                </a:solidFill>
              </a:defRPr>
            </a:pPr>
            <a:r>
              <a:rPr sz="1125" b="0">
                <a:solidFill>
                  <a:srgbClr val="606662"/>
                </a:solidFill>
              </a:rPr>
              <a:t>Local review draft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7AA903-D8B3-4A80-A5F5-1ED8A4E62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1247775"/>
            <a:ext cx="9772650" cy="550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BEB9"/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3d9d7371b8493c"/>
          <a:stretch xmlns:a="http://schemas.openxmlformats.org/drawingml/2006/main"/>
        </p:blipFill>
        <p:spPr>
          <a:xfrm xmlns:a="http://schemas.openxmlformats.org/drawingml/2006/main" flipH="0" flipV="0">
            <a:off x="1847850" y="1257300"/>
            <a:ext cx="9753600" cy="5486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750898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2F2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C5ED79A-A2FA-47D3-8E5C-1CDCAFBA4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HUMAN OWNERSHIP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0B4729-3EE6-4B31-8290-8F9A8D0AD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1918"/>
                </a:solidFill>
              </a:defRPr>
            </a:pPr>
            <a:r>
              <a:rPr sz="2850" b="1">
                <a:solidFill>
                  <a:srgbClr val="171918"/>
                </a:solidFill>
              </a:rPr>
              <a:t>A local review draft is prepared, never sent or prescribed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EE8121-A47D-4A93-A41C-10811C226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05 / HANDOFF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B497DD-09C2-47AD-8D8D-267530774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33550"/>
            <a:ext cx="419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B4231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05A199-902C-4B3E-8C7F-765228584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4310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1918"/>
                </a:solidFill>
              </a:defRPr>
            </a:pPr>
            <a:r>
              <a:rPr sz="1425" b="1">
                <a:solidFill>
                  <a:srgbClr val="171918"/>
                </a:solidFill>
              </a:rPr>
              <a:t>Rule match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80B9C0-903A-417E-B6CF-02B79D302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8605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06662"/>
                </a:solidFill>
              </a:defRPr>
            </a:pPr>
            <a:r>
              <a:rPr sz="1125" b="0">
                <a:solidFill>
                  <a:srgbClr val="606662"/>
                </a:solidFill>
              </a:rPr>
              <a:t>In-memory only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0BA70B-5746-4C4F-9DCE-2AC9DFE30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06662"/>
                </a:solidFill>
              </a:defRPr>
            </a:pPr>
            <a:r>
              <a:rPr sz="1125" b="0">
                <a:solidFill>
                  <a:srgbClr val="606662"/>
                </a:solidFill>
              </a:rPr>
              <a:t>Not sent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44A0CC-C3EA-4CC0-B5F3-A4E9251F9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1247775"/>
            <a:ext cx="9772650" cy="550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BEB9"/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d6f0b4d0b54e30"/>
          <a:stretch xmlns:a="http://schemas.openxmlformats.org/drawingml/2006/main"/>
        </p:blipFill>
        <p:spPr>
          <a:xfrm xmlns:a="http://schemas.openxmlformats.org/drawingml/2006/main" flipH="0" flipV="0">
            <a:off x="1847850" y="1257300"/>
            <a:ext cx="9753600" cy="5486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694450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2F2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812DEBB-247A-4299-965B-DBC51904B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TECHNICAL PROOF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2BF6E7-4222-44E5-9DB5-98DE59BE6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1918"/>
                </a:solidFill>
              </a:defRPr>
            </a:pPr>
            <a:r>
              <a:rPr sz="2850" b="1">
                <a:solidFill>
                  <a:srgbClr val="171918"/>
                </a:solidFill>
              </a:rPr>
              <a:t>The ML layer is prospective, local, and allowed to abstain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D62CB3-0548-4414-BCB6-7F8A3867E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6404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06 / MODEL RECORD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BB6869-2387-4A88-9991-57F65FA3E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33550"/>
            <a:ext cx="419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7A6"/>
          </a:solidFill>
          <a:ln xmlns:a="http://schemas.openxmlformats.org/drawingml/2006/main" w="0">
            <a:solidFill>
              <a:srgbClr val="2457A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68D759-6500-467E-AE0E-B157DA39D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4310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1918"/>
                </a:solidFill>
              </a:defRPr>
            </a:pPr>
            <a:r>
              <a:rPr sz="1425" b="1">
                <a:solidFill>
                  <a:srgbClr val="171918"/>
                </a:solidFill>
              </a:rPr>
              <a:t>80% test recall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AE27E9-43E5-4ABA-96D1-49B3BA216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8605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06662"/>
                </a:solidFill>
              </a:defRPr>
            </a:pPr>
            <a:r>
              <a:rPr sz="1125" b="0">
                <a:solidFill>
                  <a:srgbClr val="606662"/>
                </a:solidFill>
              </a:rPr>
              <a:t>32% test precision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A27978-D103-4DCC-9271-B5C11D699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29000"/>
            <a:ext cx="11239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06662"/>
                </a:solidFill>
              </a:defRPr>
            </a:pPr>
            <a:r>
              <a:rPr sz="1125" b="0">
                <a:solidFill>
                  <a:srgbClr val="606662"/>
                </a:solidFill>
              </a:rPr>
              <a:t>42% rows flagged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41977B-364E-48AC-9160-124DE68B1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1247775"/>
            <a:ext cx="9772650" cy="550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BEB9"/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53b94f69ee4504"/>
          <a:stretch xmlns:a="http://schemas.openxmlformats.org/drawingml/2006/main"/>
        </p:blipFill>
        <p:spPr>
          <a:xfrm xmlns:a="http://schemas.openxmlformats.org/drawingml/2006/main" flipH="0" flipV="0">
            <a:off x="1847850" y="1257300"/>
            <a:ext cx="9753600" cy="5486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479966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2F2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D86644E-5A63-4AF4-AB3D-441716B3A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06662"/>
                </a:solidFill>
              </a:defRPr>
            </a:pPr>
            <a:r>
              <a:rPr sz="975" b="1">
                <a:solidFill>
                  <a:srgbClr val="606662"/>
                </a:solidFill>
              </a:rPr>
              <a:t>WHY THIS CAN WIN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5E23FF-CA2E-4EED-9B78-633F63AF5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8096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013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1918"/>
                </a:solidFill>
              </a:defRPr>
            </a:pPr>
            <a:r>
              <a:rPr sz="2850" b="1">
                <a:solidFill>
                  <a:srgbClr val="171918"/>
                </a:solidFill>
              </a:rPr>
              <a:t>Judges can see the value, novelty, and safety in one live path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9976A6-A956-418C-81AE-5F3833B73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52600"/>
            <a:ext cx="7524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EB9"/>
          </a:solidFill>
          <a:ln xmlns:a="http://schemas.openxmlformats.org/drawingml/2006/main" w="0">
            <a:solidFill>
              <a:srgbClr val="B9BEB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20B1DB-DEAD-4339-A0B2-935B0EC39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431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06B58"/>
                </a:solidFill>
              </a:defRPr>
            </a:pPr>
            <a:r>
              <a:rPr sz="1050" b="1">
                <a:solidFill>
                  <a:srgbClr val="006B58"/>
                </a:solidFill>
              </a:rPr>
              <a:t>IMPACT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D8CFCE-A8E2-4D5C-9D1E-42EE4341F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1905000"/>
            <a:ext cx="581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1918"/>
                </a:solidFill>
              </a:defRPr>
            </a:pPr>
            <a:r>
              <a:rPr sz="1500" b="1">
                <a:solidFill>
                  <a:srgbClr val="171918"/>
                </a:solidFill>
              </a:rPr>
              <a:t>Catch adherence friction early and make escalation easier for patients.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1CE015-5BB6-4D6B-B78C-AD5E44BAD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43200"/>
            <a:ext cx="7524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EB9"/>
          </a:solidFill>
          <a:ln xmlns:a="http://schemas.openxmlformats.org/drawingml/2006/main" w="0">
            <a:solidFill>
              <a:srgbClr val="B9BEB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7A5BD5-EF47-4151-A480-0B53F652B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9337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457A6"/>
                </a:solidFill>
              </a:defRPr>
            </a:pPr>
            <a:r>
              <a:rPr sz="1050" b="1">
                <a:solidFill>
                  <a:srgbClr val="2457A6"/>
                </a:solidFill>
              </a:rPr>
              <a:t>INNOVATION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47C027-7F16-47F1-AD02-6A0A9978C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2895600"/>
            <a:ext cx="581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1918"/>
                </a:solidFill>
              </a:defRPr>
            </a:pPr>
            <a:r>
              <a:rPr sz="1500" b="1">
                <a:solidFill>
                  <a:srgbClr val="171918"/>
                </a:solidFill>
              </a:rPr>
              <a:t>Combine prospective edge ML, an evidence map, and independent safety.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9E9C2E-7C49-4A22-AEE1-9328E21C1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33800"/>
            <a:ext cx="7524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EB9"/>
          </a:solidFill>
          <a:ln xmlns:a="http://schemas.openxmlformats.org/drawingml/2006/main" w="0">
            <a:solidFill>
              <a:srgbClr val="B9BEB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2668D2-0A93-4830-BB88-743C105FB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9243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06B58"/>
                </a:solidFill>
              </a:defRPr>
            </a:pPr>
            <a:r>
              <a:rPr sz="1050" b="1">
                <a:solidFill>
                  <a:srgbClr val="006B58"/>
                </a:solidFill>
              </a:rPr>
              <a:t>FEASIBILITY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BB7B9A-E6F6-4B25-A102-71E61D43D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3886200"/>
            <a:ext cx="581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1918"/>
                </a:solidFill>
              </a:defRPr>
            </a:pPr>
            <a:r>
              <a:rPr sz="1500" b="1">
                <a:solidFill>
                  <a:srgbClr val="171918"/>
                </a:solidFill>
              </a:rPr>
              <a:t>Run keyless with synthetic data, local inference, and deterministic safety.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485E79-E570-49EB-BB72-BDBF4244B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24400"/>
            <a:ext cx="7524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EB9"/>
          </a:solidFill>
          <a:ln xmlns:a="http://schemas.openxmlformats.org/drawingml/2006/main" w="0">
            <a:solidFill>
              <a:srgbClr val="B9BEB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482DC9-AC28-4054-9198-9EF030CE0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149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42318"/>
                </a:solidFill>
              </a:defRPr>
            </a:pPr>
            <a:r>
              <a:rPr sz="1050" b="1">
                <a:solidFill>
                  <a:srgbClr val="B42318"/>
                </a:solidFill>
              </a:rPr>
              <a:t>DEMO QUALITY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F8514E-974D-4A9D-8C3F-BA8725C0E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4876800"/>
            <a:ext cx="581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1918"/>
                </a:solidFill>
              </a:defRPr>
            </a:pPr>
            <a:r>
              <a:rPr sz="1500" b="1">
                <a:solidFill>
                  <a:srgbClr val="171918"/>
                </a:solidFill>
              </a:rPr>
              <a:t>Switch from a supported coaching case to a local, unsent safety draft in one click.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C33DD4-819B-4845-B225-590248642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1019175"/>
            <a:ext cx="2371725" cy="516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BEB9"/>
            </a:solidFill>
            <a:prstDash val="solid"/>
          </a:ln>
        </p:spPr>
      </p:sp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bec3fb6a7a4a23"/>
          <a:stretch xmlns:a="http://schemas.openxmlformats.org/drawingml/2006/main"/>
        </p:blipFill>
        <p:spPr>
          <a:xfrm xmlns:a="http://schemas.openxmlformats.org/drawingml/2006/main" flipH="0" flipV="0">
            <a:off x="8839880" y="1028700"/>
            <a:ext cx="2351314" cy="5143500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C1132F-DAEC-4D33-9DCD-2E514FC71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531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1918"/>
                </a:solidFill>
              </a:defRPr>
            </a:pPr>
            <a:r>
              <a:rPr sz="1200" b="1">
                <a:solidFill>
                  <a:srgbClr val="171918"/>
                </a:solidFill>
              </a:rPr>
              <a:t>PREDICT → EXPLAIN → TEST → HAND OFF SAFELY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EB28DC9-A5EC-4834-A1EF-6BF3D8879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BEB9"/>
          </a:solidFill>
          <a:ln xmlns:a="http://schemas.openxmlformats.org/drawingml/2006/main" w="0">
            <a:solidFill>
              <a:srgbClr val="B9BEB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562185E-3238-40B5-BF72-3ACD5BB37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722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06662"/>
                </a:solidFill>
              </a:defRPr>
            </a:pPr>
            <a:r>
              <a:rPr sz="750" b="1">
                <a:solidFill>
                  <a:srgbClr val="606662"/>
                </a:solidFill>
              </a:rPr>
              <a:t>SYNTHETIC PROTOTYPE / NOT CLINICAL VALIDATION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746E1A8-8BBD-4AF8-8C12-62B2BE9A9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7225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06662"/>
                </a:solidFill>
              </a:defRPr>
            </a:pPr>
            <a:r>
              <a:rPr sz="750" b="1">
                <a:solidFill>
                  <a:srgbClr val="606662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86524999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2026-07-12T11:57:00.1670000Z</dcterms:created>
  <dcterms:modified xsi:type="dcterms:W3CDTF">2026-07-12T11:57:00.1670000Z</dcterms:modified>
</coreProperties>
</file>