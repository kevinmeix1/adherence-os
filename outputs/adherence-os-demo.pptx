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267bf31699477d" /><Relationship Type="http://schemas.openxmlformats.org/officeDocument/2006/relationships/extended-properties" Target="/docProps/app.xml" Id="Rddb308773e994b07" /><Relationship Type="http://schemas.openxmlformats.org/officeDocument/2006/relationships/officeDocument" Target="/ppt/presentation.xml" Id="R80fd28462d6748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0de1b0a1a54ce6"/>
  </p:sldMasterIdLst>
  <p:notesMasterIdLst>
    <p:notesMasterId xmlns:r="http://schemas.openxmlformats.org/officeDocument/2006/relationships" r:id="Rabd8632b0a5d4709"/>
  </p:notesMasterIdLst>
  <p:sldIdLst>
    <p:sldId xmlns:r="http://schemas.openxmlformats.org/officeDocument/2006/relationships" id="256" r:id="R8cf9d9beb0434c34"/>
    <p:sldId xmlns:r="http://schemas.openxmlformats.org/officeDocument/2006/relationships" id="257" r:id="R30a211986dfa41ea"/>
    <p:sldId xmlns:r="http://schemas.openxmlformats.org/officeDocument/2006/relationships" id="258" r:id="R4ad4ba118604405e"/>
    <p:sldId xmlns:r="http://schemas.openxmlformats.org/officeDocument/2006/relationships" id="259" r:id="R34aa3fff5389402b"/>
    <p:sldId xmlns:r="http://schemas.openxmlformats.org/officeDocument/2006/relationships" id="260" r:id="Rc9cac23ceed44806"/>
    <p:sldId xmlns:r="http://schemas.openxmlformats.org/officeDocument/2006/relationships" id="261" r:id="R10a043ad35764b2b"/>
    <p:sldId xmlns:r="http://schemas.openxmlformats.org/officeDocument/2006/relationships" id="262" r:id="Rf593c1d2bfee4d7f"/>
    <p:sldId xmlns:r="http://schemas.openxmlformats.org/officeDocument/2006/relationships" id="263" r:id="R110bc313970f489c"/>
    <p:sldId xmlns:r="http://schemas.openxmlformats.org/officeDocument/2006/relationships" id="264" r:id="R47697ddc8add492d"/>
    <p:sldId xmlns:r="http://schemas.openxmlformats.org/officeDocument/2006/relationships" id="265" r:id="R41bdc38963f44c8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39667eaa054725" /><Relationship Type="http://schemas.openxmlformats.org/officeDocument/2006/relationships/slideMaster" Target="/ppt/slideMasters/slideMaster1.xml" Id="R870de1b0a1a54ce6" /><Relationship Type="http://schemas.openxmlformats.org/officeDocument/2006/relationships/notesMaster" Target="/ppt/notesMasters/notesMaster1.xml" Id="Rabd8632b0a5d4709" /><Relationship Type="http://schemas.openxmlformats.org/officeDocument/2006/relationships/presProps" Target="/ppt/presProps.xml" Id="Rbad9636d5db84cb7" /><Relationship Type="http://schemas.openxmlformats.org/officeDocument/2006/relationships/tableStyles" Target="/ppt/tableStyles.xml" Id="R2d3d149916784de8" /><Relationship Type="http://schemas.openxmlformats.org/officeDocument/2006/relationships/slide" Target="/ppt/slides/slide1.xml" Id="R8cf9d9beb0434c34" /><Relationship Type="http://schemas.openxmlformats.org/officeDocument/2006/relationships/slide" Target="/ppt/slides/slide2.xml" Id="R30a211986dfa41ea" /><Relationship Type="http://schemas.openxmlformats.org/officeDocument/2006/relationships/slide" Target="/ppt/slides/slide3.xml" Id="R4ad4ba118604405e" /><Relationship Type="http://schemas.openxmlformats.org/officeDocument/2006/relationships/slide" Target="/ppt/slides/slide4.xml" Id="R34aa3fff5389402b" /><Relationship Type="http://schemas.openxmlformats.org/officeDocument/2006/relationships/slide" Target="/ppt/slides/slide5.xml" Id="Rc9cac23ceed44806" /><Relationship Type="http://schemas.openxmlformats.org/officeDocument/2006/relationships/slide" Target="/ppt/slides/slide6.xml" Id="R10a043ad35764b2b" /><Relationship Type="http://schemas.openxmlformats.org/officeDocument/2006/relationships/slide" Target="/ppt/slides/slide7.xml" Id="Rf593c1d2bfee4d7f" /><Relationship Type="http://schemas.openxmlformats.org/officeDocument/2006/relationships/slide" Target="/ppt/slides/slide8.xml" Id="R110bc313970f489c" /><Relationship Type="http://schemas.openxmlformats.org/officeDocument/2006/relationships/slide" Target="/ppt/slides/slide9.xml" Id="R47697ddc8add492d" /><Relationship Type="http://schemas.openxmlformats.org/officeDocument/2006/relationships/slide" Target="/ppt/slides/slide10.xml" Id="R41bdc38963f44c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cb6e3752f641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175eb5cf1e4051" /><Relationship Type="http://schemas.openxmlformats.org/officeDocument/2006/relationships/notesMaster" Target="/ppt/notesMasters/notesMaster1.xml" Id="R113b661d3b0249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e76ed101834473" /><Relationship Type="http://schemas.openxmlformats.org/officeDocument/2006/relationships/notesMaster" Target="/ppt/notesMasters/notesMaster1.xml" Id="R5b09d9e1733443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a6e713622341de" /><Relationship Type="http://schemas.openxmlformats.org/officeDocument/2006/relationships/notesMaster" Target="/ppt/notesMasters/notesMaster1.xml" Id="Rdeb78f6cf9c744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c65b43bf98461b" /><Relationship Type="http://schemas.openxmlformats.org/officeDocument/2006/relationships/notesMaster" Target="/ppt/notesMasters/notesMaster1.xml" Id="R49fcf28f095e4b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caad6137524168" /><Relationship Type="http://schemas.openxmlformats.org/officeDocument/2006/relationships/notesMaster" Target="/ppt/notesMasters/notesMaster1.xml" Id="Rc19b2d3a890447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4b759c91004bcf" /><Relationship Type="http://schemas.openxmlformats.org/officeDocument/2006/relationships/notesMaster" Target="/ppt/notesMasters/notesMaster1.xml" Id="Ra2ce603e90ed4f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d4036438d644ed" /><Relationship Type="http://schemas.openxmlformats.org/officeDocument/2006/relationships/notesMaster" Target="/ppt/notesMasters/notesMaster1.xml" Id="R7f70a5a3a46745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f4b4cc334448b4" /><Relationship Type="http://schemas.openxmlformats.org/officeDocument/2006/relationships/notesMaster" Target="/ppt/notesMasters/notesMaster1.xml" Id="R610e1d2ba0a247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fad450616c4a9d" /><Relationship Type="http://schemas.openxmlformats.org/officeDocument/2006/relationships/notesMaster" Target="/ppt/notesMasters/notesMaster1.xml" Id="Rebb485ffbf494d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55ff4930314c5c" /><Relationship Type="http://schemas.openxmlformats.org/officeDocument/2006/relationships/notesMaster" Target="/ppt/notesMasters/notesMaster1.xml" Id="Re84993633fd543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40ed060a3346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747478a4e44aa4" /><Relationship Type="http://schemas.openxmlformats.org/officeDocument/2006/relationships/slideLayout" Target="/ppt/slideLayouts/slideLayout1.xml" Id="R3a73254f807946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73254f807946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8701491114243" /><Relationship Type="http://schemas.openxmlformats.org/officeDocument/2006/relationships/notesSlide" Target="/ppt/notesSlides/notesSlide1.xml" Id="R95f28867988a44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2ec7673da4b1b" /><Relationship Type="http://schemas.openxmlformats.org/officeDocument/2006/relationships/image" Target="/ppt/media/image.jpeg" Id="R60f060c7b4ea4ac6" /><Relationship Type="http://schemas.openxmlformats.org/officeDocument/2006/relationships/notesSlide" Target="/ppt/notesSlides/notesSlide2.xml" Id="Rb6284867017d4a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d2f3c7ea44bc9" /><Relationship Type="http://schemas.openxmlformats.org/officeDocument/2006/relationships/notesSlide" Target="/ppt/notesSlides/notesSlide3.xml" Id="Rc8c885c7d83141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d5e3dc8c246a7" /><Relationship Type="http://schemas.openxmlformats.org/officeDocument/2006/relationships/image" Target="/ppt/media/image2.jpeg" Id="Re0bed932af2d4cef" /><Relationship Type="http://schemas.openxmlformats.org/officeDocument/2006/relationships/notesSlide" Target="/ppt/notesSlides/notesSlide4.xml" Id="R137e9b240c5848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456a7ba1e4809" /><Relationship Type="http://schemas.openxmlformats.org/officeDocument/2006/relationships/image" Target="/ppt/media/image3.jpeg" Id="R3ec22b443e0446ec" /><Relationship Type="http://schemas.openxmlformats.org/officeDocument/2006/relationships/notesSlide" Target="/ppt/notesSlides/notesSlide5.xml" Id="Rd50e073847a741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e5990235e4023" /><Relationship Type="http://schemas.openxmlformats.org/officeDocument/2006/relationships/image" Target="/ppt/media/image4.jpeg" Id="R6b7c96aae7bc46a0" /><Relationship Type="http://schemas.openxmlformats.org/officeDocument/2006/relationships/notesSlide" Target="/ppt/notesSlides/notesSlide6.xml" Id="R1279345f783f46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1eefdf01f4d9b" /><Relationship Type="http://schemas.openxmlformats.org/officeDocument/2006/relationships/image" Target="/ppt/media/image5.jpeg" Id="R87913914d6134217" /><Relationship Type="http://schemas.openxmlformats.org/officeDocument/2006/relationships/notesSlide" Target="/ppt/notesSlides/notesSlide7.xml" Id="Rfcf8f1de03d54b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9c65ca37e4fe6" /><Relationship Type="http://schemas.openxmlformats.org/officeDocument/2006/relationships/image" Target="/ppt/media/image6.jpeg" Id="R93d55648854c4c0f" /><Relationship Type="http://schemas.openxmlformats.org/officeDocument/2006/relationships/notesSlide" Target="/ppt/notesSlides/notesSlide8.xml" Id="Re32676f23eea44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da4b1b27e45e2" /><Relationship Type="http://schemas.openxmlformats.org/officeDocument/2006/relationships/image" Target="/ppt/media/image7.jpeg" Id="Rb2088cea3a24454e" /><Relationship Type="http://schemas.openxmlformats.org/officeDocument/2006/relationships/notesSlide" Target="/ppt/notesSlides/notesSlide9.xml" Id="Ra40954e2f4f547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2285b64dd4d6b" /><Relationship Type="http://schemas.openxmlformats.org/officeDocument/2006/relationships/image" Target="/ppt/media/image8.jpeg" Id="R6898ad09cbf0475d" /><Relationship Type="http://schemas.openxmlformats.org/officeDocument/2006/relationships/notesSlide" Target="/ppt/notesSlides/notesSlide10.xml" Id="R2d4269de52b74d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F20EE-286E-4973-8F34-4912DA94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8"/>
          </a:solidFill>
          <a:ln xmlns:a="http://schemas.openxmlformats.org/drawingml/2006/main" w="0">
            <a:solidFill>
              <a:srgbClr val="17191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6220C-20CB-47D9-B9B2-1B8C75E1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A224A-BD50-49A1-A30B-C4E64BD9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REIMAGINE HEALTH / EMED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45A7AC-C90B-45A1-94F7-C5A9ED0E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71918"/>
                </a:solidFill>
              </a:defRPr>
            </a:pPr>
            <a:r>
              <a:rPr sz="5100" b="1">
                <a:solidFill>
                  <a:srgbClr val="171918"/>
                </a:solidFill>
              </a:rPr>
              <a:t>Adherence 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460A2-94FB-4ADB-A7DD-2DFBAF8B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838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606662"/>
                </a:solidFill>
              </a:defRPr>
            </a:pPr>
            <a:r>
              <a:rPr sz="2025" b="0">
                <a:solidFill>
                  <a:srgbClr val="606662"/>
                </a:solidFill>
              </a:rPr>
              <a:t>An AI decision layer for safer at-home GLP-1 adherence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FD177-9E87-4C4B-92B6-6E788FD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BB794-5121-48F3-810E-8E3C3DFB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4DAAB-5EE7-42AE-98A5-7C8028AF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PREDICT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A2860-B78B-442A-AC48-7B7B47DDB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67F84-E733-4F7E-8D21-0EFE4932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F0EC2-5FF0-4790-AE4B-BF6C6504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0960FD-A8BB-4B23-83DB-A5AF58C6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SIMULATE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5A158C-0C67-49D9-9B0A-FA697C64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E248AF-24D8-40AB-9DA3-C73148A8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HAND 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CAF59-84F9-4F3A-87A8-EAC06DB0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662"/>
                </a:solidFill>
              </a:defRPr>
            </a:pPr>
            <a:r>
              <a:rPr sz="1350" b="0">
                <a:solidFill>
                  <a:srgbClr val="606662"/>
                </a:solidFill>
              </a:rPr>
              <a:t>Local ML + typed evidence graph + deterministic safety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994686-5D64-4542-8399-9997C44A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B4DACC-7772-44D2-8FDD-DE4E3ED6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884D88-1D3B-4F38-860F-CCDF03CC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420899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6BC24A-7ECF-44FD-AA4D-5BA5536A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THE PATIENT NEED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D3303-4B7A-4324-92E8-55C8EEE8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Chronic care breaks in the time between appointments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46EC5-F3D0-4459-9006-D346EAD8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B2C26-0A03-46D9-89A2-295DF098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Friction accumulates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06ACA-F0ED-4527-9EE1-D7538011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Symptoms, routine changes, and missed doses become a pattern before the next appointment.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DD74F-BE65-4EFB-8193-D54A2707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05C0F8-30DE-4561-8F85-A6B01F6C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Data is hard to interpret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E875A9-8CA3-4562-88A5-51933999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Patients should not have to decide which home signal matters or when to seek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EB455C-DF4A-4295-8D3F-EF3C20BC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7D4FC-E9A4-4836-BA17-7A8BF30B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Clinical attention is scarce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EA7F9-E470-464A-A2DE-33D92322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Care teams need an asynchronous record that makes the next review task obvious.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71253-1C97-42CC-8F49-4D2B883D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666875"/>
            <a:ext cx="6972300" cy="393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060c7b4ea4ac6"/>
          <a:stretch xmlns:a="http://schemas.openxmlformats.org/drawingml/2006/main"/>
        </p:blipFill>
        <p:spPr>
          <a:xfrm xmlns:a="http://schemas.openxmlformats.org/drawingml/2006/main">
            <a:off x="4705350" y="1678186"/>
            <a:ext cx="6953250" cy="3911203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7DAEB-21D9-4C84-9A98-21B8895C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3ADBD-C0A8-4E85-911E-E08D2529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65A23-987D-4976-8A14-3C37BFCC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0405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ABBAD4-B62E-4A54-8C76-02564998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DECISION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D03C6-9BB7-4BDC-BAA2-E4A71406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One ledger separates model judgment from clinical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FA8D2-20EA-4147-8EC7-3EA4F009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C5C336-038B-4D16-87E7-A7CD8FCA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A5DA8-FCF9-4EB8-ACAC-C380BC16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18461-F490-42AF-A838-EF99B680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Home check-in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A4D6A-828E-48F2-BD24-D10411F8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Dose event, symptoms, hydration, routine, language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4EBC5-DC84-4911-9167-4F1D61E3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8FA01-847D-4AA9-BC7B-E377E187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B0A55-07A3-4035-9F99-37B8EB5B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4D745-B188-4B17-A3CA-C72F8472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PREDICT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160391-F080-4CF5-9E5A-C7B4AB97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risk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E0CE0-6ED6-40F7-8EBD-457B7504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Prospective score, support bounds, exact decomposition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47CE87-3880-44E5-A075-AA9E3A4A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A8747F-7C72-4C74-83D4-2FD4EB95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7955CF-329D-4DCB-B210-A8308E07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130D8-DE50-4881-97B0-A48ADDB6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C78A4-8F59-46DE-A1F0-52C1864E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Evidence graph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9E856E-2CE4-4FC5-89EF-78B475ED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Typed sources, selected driver, bounded route comparison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CF1281-996B-4ADB-AB82-8D8A2611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11F810-C55E-4A29-94A3-C468369B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263352-BF1E-4628-9D1B-53A3B268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AD9317-EED5-4595-8FBC-951CB571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DB5BE1-C1F7-4341-9051-A09F801E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Clinical handoff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170B02-B3AB-4BC7-B960-BDAB0CE2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Rule trigger, draft state, owner, audit trail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BE8F0F-1082-4CB2-B564-00E24717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F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8EB13A-617E-4721-8508-1B8CB02B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577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DETERMINISTIC SAFETY OVERRIDE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2DA0FD-52A7-43E1-9750-78CBA80C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0101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82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918"/>
                </a:solidFill>
              </a:defRPr>
            </a:pPr>
            <a:r>
              <a:rPr sz="1650" b="1">
                <a:solidFill>
                  <a:srgbClr val="171918"/>
                </a:solidFill>
              </a:rPr>
              <a:t>Red flags suppress coaching and every simulated route, even when the model abstains.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A9E75B-7BB2-4D2C-9C6F-10D00EAF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69654C-F5DE-42BE-8240-82C91DDF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AFC5D2-2FB0-432C-AABD-C4093539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904814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6B59B7-DDA5-4044-ABA6-665D71D7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F3C11-75EC-41B4-A579-FBDFD888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first screen is an inspectable decision, not a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E26CA6-5921-4E20-A75E-8AD45319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911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01 / CURRENT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02DDD-32FB-4F52-BF47-2A0F3A08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CC7F5-A3DF-472A-BABA-8EBA6F96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5% local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A0011-B7EC-455D-8857-7AA4877A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One active driver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45617-534B-4EAC-8E71-D982D41D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Coaching permitted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BD3C8-4046-43B1-B4A5-7782531D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ed932af2d4cef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9086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4B9B28-39BA-422E-9B57-62A8A6B7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02B11-DCD2-476F-B929-338FB0D5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Every visible driver carries its evidence source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AD318-EDC9-45A6-A178-704C8C74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781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02 / ATTRIBUTION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FF6A14-C644-40C3-AFC7-E3041069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55D1D-E044-4729-9144-6CA510D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4C567-5681-456F-8C7B-5ED80DA8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Simulation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7988A-7F2C-4A08-AD73-317D7C66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Rule /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A491C-4F36-4699-8A37-ECCDBCDF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c22b443e0446ec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642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5FD743-6248-4411-AF21-8F4A483C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BOUNDED PLANNING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CA062-0F9B-469E-8D90-C4A0B65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Support routes are transparent assumptions, not causal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84881-520A-470A-9534-65F5B071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03 / WHAT-IF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AB27B-4E63-43ED-8FA8-C0A7F331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DBFBA-11D2-4968-9071-1476ADF4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Hydration nudge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6C8838-B2C7-490B-AAB8-439D976A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−2 pp scenario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6619A-0CAF-407A-81AB-877AE18B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Inside support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AB94C-E8FC-436A-B1A0-42B6DCCA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c96aae7bc46a0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9245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FFBEFB-750B-4962-B2C3-21FB3510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SAFETY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43BC8-C76F-49F6-AFA6-DBAEAA35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When red flags appear, the model abstains and safety still 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E06B5-1C9C-4853-8E80-850C78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04 / ESCALATION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2D3759-5B10-41FE-AC81-5D055E42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8DC68-A2C5-4548-A6A4-0ED324D4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Model abstained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136A-DF25-4659-A79D-3F5E451F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Routes suppressed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E90C1C-FA5B-4DA4-BA11-6B6A8F65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Clinician handoff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6D52E-06EF-4624-A16C-258BE0CF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13914d6134217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43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F86901-E061-4D10-AEA3-98E94CAD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HUMAN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ADBE1-EC0D-4B95-B80B-05023FFA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system prepares a review task; it does not send or prescribe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E3FB5-DD13-4A84-A306-09035C08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05 /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51146-6BCC-4C8B-9002-F7E41CDA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D4EFF-C5F8-4BC3-A369-9B9B40B5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Pending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460CA-F119-4503-9CA7-3AC74435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Unassigned owner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B780DA-CE71-4FB5-A761-3AE473DC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Draft only / not 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5C839-B29F-4BC8-A8E9-D60A94AD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55648854c4c0f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249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49A724-5615-46A4-A871-855C12F5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TECHNICAL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073BC-8560-48D7-B0B5-FCCF0419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ML layer is prospective, local, and allowed to abstain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F56BB-9AEC-47D0-95D5-0BC88BD8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404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06 / MODEL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0C8C8-8C5E-42BF-9986-9A18DA77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3DC1F-5878-4129-B060-78698044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14 features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871BF-8F71-4CCF-ADF5-BF45E8E1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16 bootstrap members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5471F-E9BA-4956-A5D6-7FBFC772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Exact attribution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A7CD27-E161-4702-87CC-B9F58D46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088cea3a24454e"/>
          <a:stretch xmlns:a="http://schemas.openxmlformats.org/drawingml/2006/main"/>
        </p:blipFill>
        <p:spPr>
          <a:xfrm xmlns:a="http://schemas.openxmlformats.org/drawingml/2006/main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382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EE00C9-9C91-476D-B708-8A717891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WHY THIS CAN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7AE70-431B-4CDB-A303-A2615B40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13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Judges can see the value, novelty, and safety in one live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E9DC2-1791-427E-8D9B-69AA0022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2AAD4-3BF8-4542-83E6-85B8A11C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5D821-8D73-4E3E-AF70-F5186FD4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050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Catch adherence friction early and make escalation easier for patients.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E3F81-B39F-4E20-853A-D2132578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A89E4-3BBF-4981-A99B-ECC5299A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57A6"/>
                </a:solidFill>
              </a:defRPr>
            </a:pPr>
            <a:r>
              <a:rPr sz="1050" b="1">
                <a:solidFill>
                  <a:srgbClr val="2457A6"/>
                </a:solidFill>
              </a:rPr>
              <a:t>INNOVATION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ED675-4AC3-4CFF-8E94-B221C642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8956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Combine prospective edge ML, evidence graphs, and independent safety.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4E612C-0513-4D91-AC63-AE683343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587133-E66D-43E5-811C-D06EE19D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FEASIBILITY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14A53-955C-4FFB-8784-00472C6C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862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Run keyless with checked-in synthetic data and deterministic fallback.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9E778F-14F1-4998-8573-A66648D6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7194-DF9B-451D-B388-D47D5363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DEMO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367A6F-2F25-4B85-B0F1-0426B624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768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Switch from reversible coaching to a human-owned handoff in one click.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2E7641-3015-49A7-96FB-0EA59C31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019175"/>
            <a:ext cx="2371725" cy="516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8ad09cbf0475d"/>
          <a:stretch xmlns:a="http://schemas.openxmlformats.org/drawingml/2006/main"/>
        </p:blipFill>
        <p:spPr>
          <a:xfrm xmlns:a="http://schemas.openxmlformats.org/drawingml/2006/main">
            <a:off x="8839880" y="1028700"/>
            <a:ext cx="2351314" cy="5143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3A141C-C7E2-4249-8D4F-F8D69B9B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918"/>
                </a:solidFill>
              </a:defRPr>
            </a:pPr>
            <a:r>
              <a:rPr sz="1200" b="1">
                <a:solidFill>
                  <a:srgbClr val="171918"/>
                </a:solidFill>
              </a:rPr>
              <a:t>PREDICT → EXPLAIN → SIMULATE → HAND OFF SAFELY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E61AB8-FB62-40AD-B9C4-16961C70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8EBA3-27C2-40F7-94B9-5E2AC249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CAAF6A-70BF-4785-B16F-9794AC48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813401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2026-07-11T21:01:45.7660000Z</dcterms:created>
  <dcterms:modified xsi:type="dcterms:W3CDTF">2026-07-11T21:01:45.7660000Z</dcterms:modified>
</coreProperties>
</file>