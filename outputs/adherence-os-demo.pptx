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f2e9f943e447e3" /><Relationship Type="http://schemas.openxmlformats.org/officeDocument/2006/relationships/extended-properties" Target="/docProps/app.xml" Id="Re90c3fce77ab4882" /><Relationship Type="http://schemas.openxmlformats.org/officeDocument/2006/relationships/officeDocument" Target="/ppt/presentation.xml" Id="Rf1ef8327486c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b04cb578e14e25"/>
  </p:sldMasterIdLst>
  <p:notesMasterIdLst>
    <p:notesMasterId xmlns:r="http://schemas.openxmlformats.org/officeDocument/2006/relationships" r:id="Rb1e4892aa7c04f15"/>
  </p:notesMasterIdLst>
  <p:sldIdLst>
    <p:sldId xmlns:r="http://schemas.openxmlformats.org/officeDocument/2006/relationships" id="256" r:id="Rfdb54c6ef4ce4263"/>
    <p:sldId xmlns:r="http://schemas.openxmlformats.org/officeDocument/2006/relationships" id="257" r:id="R837daf82b00c4ebe"/>
    <p:sldId xmlns:r="http://schemas.openxmlformats.org/officeDocument/2006/relationships" id="258" r:id="R5b8b0a3bc8214991"/>
    <p:sldId xmlns:r="http://schemas.openxmlformats.org/officeDocument/2006/relationships" id="259" r:id="R03d96176f40b414f"/>
    <p:sldId xmlns:r="http://schemas.openxmlformats.org/officeDocument/2006/relationships" id="260" r:id="Re3628317d4cb4f80"/>
    <p:sldId xmlns:r="http://schemas.openxmlformats.org/officeDocument/2006/relationships" id="261" r:id="R5e42501e85b3480f"/>
    <p:sldId xmlns:r="http://schemas.openxmlformats.org/officeDocument/2006/relationships" id="262" r:id="Rccb5d6cf4da94e1e"/>
    <p:sldId xmlns:r="http://schemas.openxmlformats.org/officeDocument/2006/relationships" id="263" r:id="R5aa9bf3bf9bf4bf0"/>
    <p:sldId xmlns:r="http://schemas.openxmlformats.org/officeDocument/2006/relationships" id="264" r:id="Ra039680760844e77"/>
    <p:sldId xmlns:r="http://schemas.openxmlformats.org/officeDocument/2006/relationships" id="265" r:id="R3e5002c1e50044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ac1be12538494f" /><Relationship Type="http://schemas.openxmlformats.org/officeDocument/2006/relationships/slideMaster" Target="/ppt/slideMasters/slideMaster1.xml" Id="R3eb04cb578e14e25" /><Relationship Type="http://schemas.openxmlformats.org/officeDocument/2006/relationships/notesMaster" Target="/ppt/notesMasters/notesMaster1.xml" Id="Rb1e4892aa7c04f15" /><Relationship Type="http://schemas.openxmlformats.org/officeDocument/2006/relationships/presProps" Target="/ppt/presProps.xml" Id="Rd0cc58f072d94472" /><Relationship Type="http://schemas.openxmlformats.org/officeDocument/2006/relationships/tableStyles" Target="/ppt/tableStyles.xml" Id="Rabc307bee34d4ccf" /><Relationship Type="http://schemas.openxmlformats.org/officeDocument/2006/relationships/slide" Target="/ppt/slides/slide1.xml" Id="Rfdb54c6ef4ce4263" /><Relationship Type="http://schemas.openxmlformats.org/officeDocument/2006/relationships/slide" Target="/ppt/slides/slide2.xml" Id="R837daf82b00c4ebe" /><Relationship Type="http://schemas.openxmlformats.org/officeDocument/2006/relationships/slide" Target="/ppt/slides/slide3.xml" Id="R5b8b0a3bc8214991" /><Relationship Type="http://schemas.openxmlformats.org/officeDocument/2006/relationships/slide" Target="/ppt/slides/slide4.xml" Id="R03d96176f40b414f" /><Relationship Type="http://schemas.openxmlformats.org/officeDocument/2006/relationships/slide" Target="/ppt/slides/slide5.xml" Id="Re3628317d4cb4f80" /><Relationship Type="http://schemas.openxmlformats.org/officeDocument/2006/relationships/slide" Target="/ppt/slides/slide6.xml" Id="R5e42501e85b3480f" /><Relationship Type="http://schemas.openxmlformats.org/officeDocument/2006/relationships/slide" Target="/ppt/slides/slide7.xml" Id="Rccb5d6cf4da94e1e" /><Relationship Type="http://schemas.openxmlformats.org/officeDocument/2006/relationships/slide" Target="/ppt/slides/slide8.xml" Id="R5aa9bf3bf9bf4bf0" /><Relationship Type="http://schemas.openxmlformats.org/officeDocument/2006/relationships/slide" Target="/ppt/slides/slide9.xml" Id="Ra039680760844e77" /><Relationship Type="http://schemas.openxmlformats.org/officeDocument/2006/relationships/slide" Target="/ppt/slides/slide10.xml" Id="R3e5002c1e50044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1c1879288444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7c862fcadf4117" /><Relationship Type="http://schemas.openxmlformats.org/officeDocument/2006/relationships/notesMaster" Target="/ppt/notesMasters/notesMaster1.xml" Id="R94b8030f30014c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be0562b4b24ef7" /><Relationship Type="http://schemas.openxmlformats.org/officeDocument/2006/relationships/notesMaster" Target="/ppt/notesMasters/notesMaster1.xml" Id="R89eb03cf49e34d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c0b2ea5fd047fb" /><Relationship Type="http://schemas.openxmlformats.org/officeDocument/2006/relationships/notesMaster" Target="/ppt/notesMasters/notesMaster1.xml" Id="R26b13c733aaa43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a8d7a67b24b4425" /><Relationship Type="http://schemas.openxmlformats.org/officeDocument/2006/relationships/notesMaster" Target="/ppt/notesMasters/notesMaster1.xml" Id="R6ae251bd4ffb466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4950399e4a454b" /><Relationship Type="http://schemas.openxmlformats.org/officeDocument/2006/relationships/notesMaster" Target="/ppt/notesMasters/notesMaster1.xml" Id="R71c1418025f341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e7cc530df54561" /><Relationship Type="http://schemas.openxmlformats.org/officeDocument/2006/relationships/notesMaster" Target="/ppt/notesMasters/notesMaster1.xml" Id="Rb82078d5325b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19322547ab425b" /><Relationship Type="http://schemas.openxmlformats.org/officeDocument/2006/relationships/notesMaster" Target="/ppt/notesMasters/notesMaster1.xml" Id="R1e83dc22f15042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3effbd49c84a68" /><Relationship Type="http://schemas.openxmlformats.org/officeDocument/2006/relationships/notesMaster" Target="/ppt/notesMasters/notesMaster1.xml" Id="R9462ada017a04f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5bab3580414c72" /><Relationship Type="http://schemas.openxmlformats.org/officeDocument/2006/relationships/notesMaster" Target="/ppt/notesMasters/notesMaster1.xml" Id="Rcae89238f1d34c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fb7c25abb6493a" /><Relationship Type="http://schemas.openxmlformats.org/officeDocument/2006/relationships/notesMaster" Target="/ppt/notesMasters/notesMaster1.xml" Id="Rceb22a9d437a49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72ccb954b4d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00ddd5b6d048e3" /><Relationship Type="http://schemas.openxmlformats.org/officeDocument/2006/relationships/slideLayout" Target="/ppt/slideLayouts/slideLayout1.xml" Id="R4a9e621ded2c4c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a9e621ded2c4c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8733ea8014359" /><Relationship Type="http://schemas.openxmlformats.org/officeDocument/2006/relationships/image" Target="/ppt/media/image.jpeg" Id="R7a21296205934954" /><Relationship Type="http://schemas.openxmlformats.org/officeDocument/2006/relationships/notesSlide" Target="/ppt/notesSlides/notesSlide1.xml" Id="R97ab880ed51043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5c75802fc4737" /><Relationship Type="http://schemas.openxmlformats.org/officeDocument/2006/relationships/image" Target="/ppt/media/image2.jpeg" Id="R3a38a500479c41b5" /><Relationship Type="http://schemas.openxmlformats.org/officeDocument/2006/relationships/notesSlide" Target="/ppt/notesSlides/notesSlide2.xml" Id="R5c768d7cb07e4e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5b1e4532046c8" /><Relationship Type="http://schemas.openxmlformats.org/officeDocument/2006/relationships/image" Target="/ppt/media/image3.jpeg" Id="R727b0827ca4c4c07" /><Relationship Type="http://schemas.openxmlformats.org/officeDocument/2006/relationships/notesSlide" Target="/ppt/notesSlides/notesSlide3.xml" Id="R3d1a31ade1e244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78ec28c8f4e98" /><Relationship Type="http://schemas.openxmlformats.org/officeDocument/2006/relationships/image" Target="/ppt/media/image4.jpeg" Id="R6512876b58cd4ebb" /><Relationship Type="http://schemas.openxmlformats.org/officeDocument/2006/relationships/notesSlide" Target="/ppt/notesSlides/notesSlide4.xml" Id="R4b1f953d8968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9ee40b7394dbf" /><Relationship Type="http://schemas.openxmlformats.org/officeDocument/2006/relationships/image" Target="/ppt/media/image5.jpeg" Id="Rd728c890434149e6" /><Relationship Type="http://schemas.openxmlformats.org/officeDocument/2006/relationships/notesSlide" Target="/ppt/notesSlides/notesSlide5.xml" Id="R7c62a88b60df40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db4fa8fde4e8d" /><Relationship Type="http://schemas.openxmlformats.org/officeDocument/2006/relationships/image" Target="/ppt/media/image6.jpeg" Id="R3122e743a77b4a1f" /><Relationship Type="http://schemas.openxmlformats.org/officeDocument/2006/relationships/notesSlide" Target="/ppt/notesSlides/notesSlide6.xml" Id="R68921fea1f5d4a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8444555a34f59" /><Relationship Type="http://schemas.openxmlformats.org/officeDocument/2006/relationships/image" Target="/ppt/media/image7.jpeg" Id="R8c4d62052b9548e8" /><Relationship Type="http://schemas.openxmlformats.org/officeDocument/2006/relationships/notesSlide" Target="/ppt/notesSlides/notesSlide7.xml" Id="R407dde59acad4f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af1dc58a3474b" /><Relationship Type="http://schemas.openxmlformats.org/officeDocument/2006/relationships/image" Target="/ppt/media/image8.jpeg" Id="R3475a159953b414a" /><Relationship Type="http://schemas.openxmlformats.org/officeDocument/2006/relationships/notesSlide" Target="/ppt/notesSlides/notesSlide8.xml" Id="Rb4b64bbeb47948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125d6fb6c48d3" /><Relationship Type="http://schemas.openxmlformats.org/officeDocument/2006/relationships/image" Target="/ppt/media/image9.jpeg" Id="Rccbe6dfc899b4f7d" /><Relationship Type="http://schemas.openxmlformats.org/officeDocument/2006/relationships/notesSlide" Target="/ppt/notesSlides/notesSlide9.xml" Id="Ra12c8904edd24c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5e99582174bb1" /><Relationship Type="http://schemas.openxmlformats.org/officeDocument/2006/relationships/image" Target="/ppt/media/image10.jpeg" Id="Rab5d4f89cc924172" /><Relationship Type="http://schemas.openxmlformats.org/officeDocument/2006/relationships/image" Target="/ppt/media/image11.jpeg" Id="R28a14753e99b4954" /><Relationship Type="http://schemas.openxmlformats.org/officeDocument/2006/relationships/notesSlide" Target="/ppt/notesSlides/notesSlide10.xml" Id="R0b001593785146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FE829C-00A8-479A-98B2-E9AF6613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EMED HACKATHON / AI ENGINE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790A45-B75D-4F73-8C74-879E76BB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191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80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Adherence 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C0129-C82C-4572-B2EC-BB9F2838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AI that knows when to coach - and when to stop.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2BF1C-94D8-4DCC-886C-6DF2431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A decision layer for at-home GLP-1 adherence support.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D00F7-2824-4EF4-8FC9-2C2AD070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C7E534-04E0-481D-BB3B-15196A2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LIVE 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68B71-46B3-4819-8E9C-0E907953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3 synthetic patients / 8 weeks / 1 safety override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D84B0-F825-42E3-A972-E777BBF5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923925"/>
            <a:ext cx="6457950" cy="3676650"/>
          </a:xfrm>
          <a:prstGeom xmlns:a="http://schemas.openxmlformats.org/drawingml/2006/main" prst="roundRect">
            <a:avLst>
              <a:gd name="adj" fmla="val 25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1296205934954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219700" y="971550"/>
            <a:ext cx="6362700" cy="358140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93B4A2-9E51-46B5-A98B-27A4A5AE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38700"/>
            <a:ext cx="6362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EB5CD7-D8CD-4F0A-A4CC-5CD56285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067300"/>
            <a:ext cx="575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model predicts adherence.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safety layer decides whether AI is allowed to coach.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6DF16-A907-4F91-A3EC-5478B8F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2A99A-2CAD-4AED-94A5-DF30E575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552AC-A413-4E6E-968D-48F1DA0F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83260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4109ED-EB5B-4B26-A556-0EDD5377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THE UNMET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F8EE9-98BA-4F87-84E0-73077027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Chronic care fails between appointments, not inside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8C48E-8B7E-4933-B844-20B461B8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C7FF1-B34B-4269-9645-70637014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D1482-9914-4524-8D90-A28E26BE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DDFC0-65BD-469E-AA17-4C5228B8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A7513-9B4E-48DC-BCFE-EB03DAB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8131F-6BCF-429C-B6B2-AE7515085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eMed programme adherence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895A14-B07C-4E56-BA74-B1F2AD58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71675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F4B16-A5A7-4CDC-86DF-8A216BCB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62125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62132-4B39-4B91-92D4-D7608B1C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62125"/>
            <a:ext cx="163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40-60%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FC2F2E-E7E7-4615-8A75-0B266146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19325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industry adherence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46694C-0D48-46B4-B469-BDDA4D7A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445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Hackathon brief figures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3F7A2-EA85-4FB0-9D1E-58DEE05A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The gap is not another reminder.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D076A-4ACF-4D26-8344-A4912630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43325"/>
            <a:ext cx="4095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It is the missing decision between a noisy home signal and the right level of support.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978AEB-9D16-4E68-BC46-5F3E370E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DE0F0-95A0-4E0C-AB36-D9C3F8D7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6163F-DFB8-4199-AC09-3696C3E8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3FA73E-0DD9-4EF8-AD81-CFF1F717B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21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0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Find the earliest adherence risk before it becomes dropout.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F0DD1-224A-41CB-B1B3-C02AE930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9530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1E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1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B3F59E-DCBE-4DB6-9201-C1C856AA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57775"/>
            <a:ext cx="87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1E09C-AFC6-44FA-AFC8-65C9C247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7685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47C4C-68E6-4602-A35B-531B5CBE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67375"/>
            <a:ext cx="1219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Show the active driver, not just a score.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0A3E74-9A16-4072-8802-40F1732B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9530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5FC20-77EA-4376-8246-86E2909B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57775"/>
            <a:ext cx="125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1E06C0-16E3-41B1-BF6E-F51789E1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27685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E75FA2-BE07-4677-9F29-087E25AF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667375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8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Escalate asynchronously when safety leaves coaching space.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77194-F4F2-458E-9E76-92803F4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47825"/>
            <a:ext cx="6191250" cy="352425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8a500479c41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5486400" y="1695450"/>
            <a:ext cx="6096000" cy="3429000"/>
          </a:xfrm>
          <a:prstGeom xmlns:a="http://schemas.openxmlformats.org/drawingml/2006/main" prst="round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618C0-ABCA-41F7-A4BB-1037DBD3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400675"/>
            <a:ext cx="6096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376B157-0CDE-424B-B1E2-8F4315C2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600700"/>
            <a:ext cx="5638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16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The patient should not have to interpret adherence, symptoms, biomarker trends and safety thresholds alone.</a:t>
            </a:r>
          </a:p>
        </p:txBody>
      </p:sp>
    </p:spTree>
    <p:extLst>
      <p:ext uri="{BB962C8B-B14F-4D97-AF65-F5344CB8AC3E}">
        <p14:creationId xmlns:p14="http://schemas.microsoft.com/office/powerpoint/2010/main" val="1892290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8DAEC0-B0AE-49E3-8B16-68F56C03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THE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4BD6A-14F9-486D-A1FA-EE01A182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Adherence OS is a decision layer, not another chatbot.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C0A08-0EBB-4EA2-B085-A163F9D6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B38CE-2A2A-42D5-B1C1-DF9B7137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1BAF4-1567-4C12-9F5D-91AB316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92C67-09B0-4278-A361-D4615A86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34BAE4-DA4D-4793-B41F-BAD755A6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14525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7DCD17-EC27-4DFB-BAA4-0CDE0B92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12F5F-DD12-4657-9B66-4D1CCF89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A 60-second home check-in becomes structured adherence, symptom and context signals.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0E83B4-4208-48D0-8378-973A11F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1E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1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7C3716-58CE-4A5A-8D15-3241866F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57575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9D471-970F-4816-A85C-4079E651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65730-5A7F-491C-AEA5-91A33C2B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Local ML ranks 7-day adherence risk; graph analytics exposes the active rescue route.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B94F10-C92F-42CC-A17D-5D3ACC18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C779DF-79BC-42D8-9B04-E7991B5F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00625"/>
            <a:ext cx="2514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36F8B9-40B7-49B9-9792-30F5DB3C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Act safely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34BA09-C2D3-44F0-85B5-75EBE03B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A bounded care moment is allowed only while deterministic rules keep the patient inside coaching space.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170F4-7D0E-468F-B8BA-53C6A91B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666875"/>
            <a:ext cx="7600950" cy="4314825"/>
          </a:xfrm>
          <a:prstGeom xmlns:a="http://schemas.openxmlformats.org/drawingml/2006/main" prst="roundRect">
            <a:avLst>
              <a:gd name="adj" fmla="val 2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b0827ca4c4c07"/>
          <a:srcRect xmlns:a="http://schemas.openxmlformats.org/drawingml/2006/main" l="0" t="28" r="0" b="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076700" y="1714500"/>
            <a:ext cx="7505700" cy="4219575"/>
          </a:xfrm>
          <a:prstGeom xmlns:a="http://schemas.openxmlformats.org/drawingml/2006/main" prst="round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98EBE-220E-402F-AC9F-DACF6F1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6096000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0ECB1E-A684-4A44-8FEC-EF46282ED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6153150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151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1E6"/>
                </a:solidFill>
                <a:latin typeface="Arial"/>
                <a:ea typeface="Arial"/>
                <a:cs typeface="Arial"/>
              </a:rPr>
              <a:t>EDGE 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952479-5533-402F-91B5-AF51D2E8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0960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7E7F9E-72D2-49E8-AFF6-C623CB25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61531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GRAPH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94BBA7-22BB-4FD5-B6A0-B334B8F9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0960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637AC9-0CE8-4377-8E85-3B232A16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15315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SAFETY OVERRIDE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17CF9-D382-4373-8CA1-7BDBE2DD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1722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Optional structured AI output / deterministic fallback</a:t>
            </a:r>
          </a:p>
        </p:txBody>
      </p:sp>
    </p:spTree>
    <p:extLst>
      <p:ext uri="{BB962C8B-B14F-4D97-AF65-F5344CB8AC3E}">
        <p14:creationId xmlns:p14="http://schemas.microsoft.com/office/powerpoint/2010/main" val="2033120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3B4628-704F-49F2-B4CE-1EEEDBB5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LIVE JOURNEY / NORMAL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D8EBB-0C5F-46AE-85B9-2BD8D34C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3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A normal check-in interrupts the smallest adherence loop.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10A39-F21F-40E5-A2CB-B63D3758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0EDC8-0F65-4FA9-B903-EF6614D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A4FDED-DE66-4DB9-8C6C-54D34742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72E60-4C36-4116-8741-8D812D2C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AA217-DE12-454F-B902-168F4950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COACHING ALLOWED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13EC7-84C8-4DCD-ABCD-A87EBB16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F66CE-A8E3-4631-A589-E5DB8E9F8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CD970-B054-42AE-91FE-2C974639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7-day dropout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A9D8C-D3C3-46A0-9603-A94217D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D40986-61E0-4C04-A114-74650E2A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93%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F422C-8DDA-4E3B-8E59-C3C2FAB1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recent adherence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4021B5-BFC4-49EF-A7D4-FF4F6419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BED835-7F71-42FE-8460-4342FEA3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-2%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24CD5-05C5-44C0-A46B-FEDFBD6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modelled reminder effect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CBAFA-2022-4CCA-A101-51B3B75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Bounded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670FF7-ED38-4B0B-80EB-A543A7EC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Keep today's routine. Repeat the same reminder tomorrow and log side effects.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CFDC82-7A9D-4155-8962-5220C70F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666875"/>
            <a:ext cx="7353300" cy="4181475"/>
          </a:xfrm>
          <a:prstGeom xmlns:a="http://schemas.openxmlformats.org/drawingml/2006/main" prst="roundRect">
            <a:avLst>
              <a:gd name="adj" fmla="val 22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2876b58cd4ebb"/>
          <a:srcRect xmlns:a="http://schemas.openxmlformats.org/drawingml/2006/main" l="44" t="0" r="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324350" y="1714500"/>
            <a:ext cx="7258050" cy="4086225"/>
          </a:xfrm>
          <a:prstGeom xmlns:a="http://schemas.openxmlformats.org/drawingml/2006/main" prst="round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29C604-E428-40BF-8C7F-F8DDB89B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00750"/>
            <a:ext cx="7258050" cy="304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C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C995F6-E10F-4AA6-9DC8-B2579CFA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076950"/>
            <a:ext cx="695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Check-in  &gt;  local inference  &gt;  behavioural care moment  &gt;  tomorrow's check-in</a:t>
            </a:r>
          </a:p>
        </p:txBody>
      </p:sp>
    </p:spTree>
    <p:extLst>
      <p:ext uri="{BB962C8B-B14F-4D97-AF65-F5344CB8AC3E}">
        <p14:creationId xmlns:p14="http://schemas.microsoft.com/office/powerpoint/2010/main" val="739734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AA0558-1D59-4F61-9A92-17FBF613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GRAPH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5228B-0DEF-4FA8-8D17-0C6A3DB0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The graph turns a prediction into an auditable route.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8C5CB-DFD5-4264-B5C8-2EF9CC68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1B62F-9F5B-4B2D-9D89-EDC9D606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6BF77-3027-4CD4-AB95-BC13DDCA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A0428D-B452-4BDB-B4C5-D867E72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52575"/>
            <a:ext cx="9124950" cy="5172075"/>
          </a:xfrm>
          <a:prstGeom xmlns:a="http://schemas.openxmlformats.org/drawingml/2006/main" prst="roundRect">
            <a:avLst>
              <a:gd name="adj" fmla="val 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28c890434149e6"/>
          <a:srcRect xmlns:a="http://schemas.openxmlformats.org/drawingml/2006/main" l="0" t="23" r="0" b="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600200"/>
            <a:ext cx="9029700" cy="507682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62509-DA1B-4FCB-8D77-AA5B318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716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104E6-4BE6-45B9-8E93-F4368E7A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7716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F7A30-120F-47D0-B7EF-38D2AD5E4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288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live decision nodes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B2B5B-D3F3-439E-B916-D5F4DC82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8130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75CC3-C2E3-452E-996F-482F62CA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8130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07F2CD-903A-4293-851A-61B76F92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385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typed graph edges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455BD-AA82-4377-99C9-9D8643EB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90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C4005-FEEC-4AE8-AF84-EDA132C7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7909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1.87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5E937-AA40-4F59-A1F1-AEA7DEB7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2481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driver centrality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28828-CAEC-4184-B4A8-7A48CC84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768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What is calculated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3A4539-A501-4E1F-94A2-F47F108C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181600"/>
            <a:ext cx="1676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5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Centrality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Distance to escalation</a:t>
            </a:r>
          </a:p>
          <a:p xmlns:a="http://schemas.openxmlformats.org/drawingml/2006/main">
            <a:pPr algn="l">
              <a:lnSpc>
                <a:spcPct val="124000"/>
              </a:lnSpc>
              <a:buNone/>
              <a:defRPr sz="127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Rescue path strength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B48A7-1A8F-4BBE-8FF5-E68296C0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150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750" b="0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38079"/>
                </a:solidFill>
                <a:latin typeface="Arial"/>
                <a:ea typeface="Arial"/>
                <a:cs typeface="Arial"/>
              </a:rPr>
              <a:t>Graph links are explanatory associations, not causal evidence.</a:t>
            </a:r>
          </a:p>
        </p:txBody>
      </p:sp>
    </p:spTree>
    <p:extLst>
      <p:ext uri="{BB962C8B-B14F-4D97-AF65-F5344CB8AC3E}">
        <p14:creationId xmlns:p14="http://schemas.microsoft.com/office/powerpoint/2010/main" val="15508093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03DF11-E75E-40B1-BC3A-14772150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LIVE JOURNEY / ESCALATION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A9AFEB-0052-4C37-9840-6F8A9F0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At 21% ML risk, red flags still override the model.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0FCE2-4B0C-4F4E-A0BF-36237741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C7C45-5F98-41BA-882A-0A1C351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83DAC-0A7E-4605-B80A-7192DCCC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12277-90E7-4714-8C69-BB1658AA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52575"/>
            <a:ext cx="9124950" cy="5172075"/>
          </a:xfrm>
          <a:prstGeom xmlns:a="http://schemas.openxmlformats.org/drawingml/2006/main" prst="roundRect">
            <a:avLst>
              <a:gd name="adj" fmla="val 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22e743a77b4a1f"/>
          <a:srcRect xmlns:a="http://schemas.openxmlformats.org/drawingml/2006/main" l="0" t="23" r="0" b="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600200"/>
            <a:ext cx="9029700" cy="507682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40DD58-4C25-4C98-A1CC-B70DD748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733550"/>
            <a:ext cx="1695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7B70C7-C7AB-4FE0-AA50-EBE78C3E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79070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SAFETY TAKES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48C455-FE80-415A-B9FE-573F10DF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66950"/>
            <a:ext cx="381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1ED96-593D-474B-9775-EF7D3989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266950"/>
            <a:ext cx="1504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21%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AF065-FBD9-4AA8-8506-643BD053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241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5A55"/>
                </a:solidFill>
                <a:latin typeface="Arial"/>
                <a:ea typeface="Arial"/>
                <a:cs typeface="Arial"/>
              </a:rPr>
              <a:t>ML adherence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9B231E-0C11-4562-8AF1-C6088BD6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62300"/>
            <a:ext cx="1676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1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Low model risk does not mean low medical risk.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6526A-BF4C-422F-9DCD-7EC34FAB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1676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2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13288-483D-4F95-B1AA-79EB214D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4815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Red flags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BD83-A248-473B-821E-69C82B57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552950"/>
            <a:ext cx="1676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0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Severe pain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Unable to keep fluids down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Fainting or severe dizziness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BD548-B3C2-4CAB-95A4-B0A3C94CE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81025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Result: clinical handoff, not another nudge.</a:t>
            </a:r>
          </a:p>
        </p:txBody>
      </p:sp>
    </p:spTree>
    <p:extLst>
      <p:ext uri="{BB962C8B-B14F-4D97-AF65-F5344CB8AC3E}">
        <p14:creationId xmlns:p14="http://schemas.microsoft.com/office/powerpoint/2010/main" val="17063365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355332-A5FA-455A-8F35-F5762072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CLINICIAN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CAC765-83E7-46BF-8F2D-E3C82676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68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One queue item arrives with the reasoning already compressed.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ADEB94-5B07-4171-AC5C-724B8C048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7C48B-D95C-4017-BE98-B046B579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77CE6-6922-4FD6-9312-67E8A580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97DFE-4916-43B2-B39A-2B2F91EC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8191500" cy="4648200"/>
          </a:xfrm>
          <a:prstGeom xmlns:a="http://schemas.openxmlformats.org/drawingml/2006/main" prst="roundRect">
            <a:avLst>
              <a:gd name="adj" fmla="val 20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d62052b9548e8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619250"/>
            <a:ext cx="8096250" cy="455295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906190-026B-48A9-9959-D5E07D95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145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71F7E-215A-473F-9585-1C889347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19275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8E173-7FB9-4DDF-A43C-C89B9734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Prioritise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963EEB-10C8-4306-A890-9A116F3B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28875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Urgent patients rise above stable check-ins.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62FAEE-3F6D-4748-A7F7-7A4C2BA8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1E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1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8E0D30-A02E-4CC3-A3A2-03D7CA03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43275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B7592-A1AF-4A14-8DFC-4C64EC93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623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Compress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F12404-526F-4066-B3BE-C08F839A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52875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Eight weeks of context become one concise async review packet.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BEAAD-DAC3-46FA-9CC1-9062B4D9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7625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DEBF6E-FCF8-4215-85DB-A6095BE5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67275"/>
            <a:ext cx="2114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151349-869F-463A-98E1-E349013F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086350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9FE23F-49D1-4E9F-A614-45260953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76875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Five visible steps show how the handoff was produced.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41AC7C-BE2B-4D13-9520-011001FB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076950"/>
            <a:ext cx="2457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0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The care team receives a summary, never an automated clinical decision.</a:t>
            </a:r>
          </a:p>
        </p:txBody>
      </p:sp>
    </p:spTree>
    <p:extLst>
      <p:ext uri="{BB962C8B-B14F-4D97-AF65-F5344CB8AC3E}">
        <p14:creationId xmlns:p14="http://schemas.microsoft.com/office/powerpoint/2010/main" val="1557366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53C0F9-2E9B-4667-A61F-31865CE9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TECHNICAL CREDIBILITY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75C5E-725B-4A42-9C7C-0F8EFBED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Real ML runs locally; its limits are explicit.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539348-C392-4989-8CCB-D216840A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03453-C9AA-467E-89BE-A4B2AE0E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0898E-6DA8-44FC-8DF4-3F55AA59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49FC7-1E26-469C-91C9-D0AA1B28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6953250" cy="3952875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5a159953b41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619250"/>
            <a:ext cx="6858000" cy="385762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B2B38-6EBC-46D8-9BF1-F7539865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685800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779664-E2AB-48DF-9D63-DD7E9B61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76925"/>
            <a:ext cx="643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Synthetic metrics prove the pipeline, not clinical validity. Real deployment needs retrospective validation on eMed outcomes.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C8F280-38D1-4F3C-8E13-9DA9DAB0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What is actually running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29BDE-B20E-4F1C-8987-722211AA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764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14 local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57A4A-54E4-447D-9EE8-0F76FA7F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Structured adherence, symptom, routine and biomarker context.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BF4D5-4AB5-4EFE-A5FF-D91FBB13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4800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C5593-4B04-404F-A6A0-D99D3856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575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Exported JSON logistic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55B2A-A6A9-4712-9590-C8CDEC9F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676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Browser-side inference works without an external model service.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332497-6B28-431A-AF12-F2270BAC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29100"/>
            <a:ext cx="3676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D4B60-F513-4E8C-ADD4-20A71524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386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Explainability + what-if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4A09F7-F4C5-44A5-AA9E-1401AC93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9650"/>
            <a:ext cx="3676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Feature contributions expose the score. Intervention deltas are bounded simulations, never causal claims.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DFE66-26B1-4531-8A34-F543848E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0250"/>
            <a:ext cx="16573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5B1865-9510-42E0-81AE-27A383DC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8674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OFFLINE-SAFE DEMO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E3F738-6DA9-4190-9D47-1D5EFCA5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810250"/>
            <a:ext cx="16764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E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880CD-F1B3-40DE-B9BC-1F3DE601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867400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3151E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3151E6"/>
                </a:solidFill>
                <a:latin typeface="Arial"/>
                <a:ea typeface="Arial"/>
                <a:cs typeface="Arial"/>
              </a:rPr>
              <a:t>SCHEMA VALIDATED</a:t>
            </a:r>
          </a:p>
        </p:txBody>
      </p:sp>
    </p:spTree>
    <p:extLst>
      <p:ext uri="{BB962C8B-B14F-4D97-AF65-F5344CB8AC3E}">
        <p14:creationId xmlns:p14="http://schemas.microsoft.com/office/powerpoint/2010/main" val="20882016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2209BC-9750-45C8-9CEF-925063A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SAFETY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4CF4ED-A475-4C7A-923D-1EF41C5C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1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Deterministic guardrails are independent of generated 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0A2EF-DF86-462A-948D-6EC52EB3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D122E-AF78-4359-94E6-D36E2E8F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318B6-D649-4CA1-9FDF-42100FB3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738079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380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97062-E8A4-4286-80BE-2FE5DA81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6953250" cy="3952875"/>
          </a:xfrm>
          <a:prstGeom xmlns:a="http://schemas.openxmlformats.org/drawingml/2006/main" prst="roundRect">
            <a:avLst>
              <a:gd name="adj" fmla="val 24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e6dfc899b4f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619250"/>
            <a:ext cx="6858000" cy="3857625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E6B12-D070-4CAD-8886-80CFD780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954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Execution order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239A0-3335-4212-AC69-1F833EBE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9E1B74-0455-4887-B11C-FAC43A77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02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EA4888-E819-47E0-A995-4EC79A87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Structured intake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5893F-2212-433F-A95D-6C156460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0987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Home language is converted into a typed schema.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938A3C-1F96-4542-B391-50F01A47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7185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3151E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151E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CFF2E-B3C5-4747-99C9-9578D310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7662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D1BD4-03E3-4889-A2F4-8339CBCC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Optional OpenAI reasoning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CE005-CA94-4D48-BC49-2F12226C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8622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The route can generate a bounded care moment; local fallback stays visible.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F7D7A1-7B60-4EBD-A847-3E37E849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E329CD-7B37-442A-ADED-15ACA304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672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EDD090-6396-4DB6-A399-13F2F7CB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86350"/>
            <a:ext cx="3676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1151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513"/>
                </a:solidFill>
                <a:latin typeface="Arial"/>
                <a:ea typeface="Arial"/>
                <a:cs typeface="Arial"/>
              </a:rPr>
              <a:t>Deterministic override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8666AC-3959-499A-9167-8C42CB44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476875"/>
            <a:ext cx="3676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4F5A5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A55"/>
                </a:solidFill>
                <a:latin typeface="Arial"/>
                <a:ea typeface="Arial"/>
                <a:cs typeface="Arial"/>
              </a:rPr>
              <a:t>Unsafe medication language and urgent symptoms are blocked before the UI.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28BFD4-ABA7-4B2A-A0F6-BFA816D2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685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1191C9-994F-41AF-86C8-963D225C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647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 diagnosis  /  no medication changes  /  red flags escalate  /  clinician decides</a:t>
            </a:r>
          </a:p>
        </p:txBody>
      </p:sp>
    </p:spTree>
    <p:extLst>
      <p:ext uri="{BB962C8B-B14F-4D97-AF65-F5344CB8AC3E}">
        <p14:creationId xmlns:p14="http://schemas.microsoft.com/office/powerpoint/2010/main" val="8214121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6C8363-2999-4DC5-9734-6BDC5857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AAB5A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AB5AF"/>
                </a:solidFill>
                <a:latin typeface="Arial"/>
                <a:ea typeface="Arial"/>
                <a:cs typeface="Arial"/>
              </a:rPr>
              <a:t>THE THREE-MINUTE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42E26-48FC-43BF-AF35-E55D6B0E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6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 the drop-off. Explain the driver. Hand off before harm.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8A66A-EACB-4137-A2D6-581F4BA7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63662D-0F80-485E-B2EE-2F68C2E8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10350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1">
                <a:solidFill>
                  <a:srgbClr val="AAB5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AB5AF"/>
                </a:solidFill>
                <a:latin typeface="Arial"/>
                <a:ea typeface="Arial"/>
                <a:cs typeface="Arial"/>
              </a:rPr>
              <a:t>ADHERENCE OS / SYNTHETIC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1F01E-B3D6-475E-9BF1-50748FAD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33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50" b="1">
                <a:solidFill>
                  <a:srgbClr val="AAB5A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AB5A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5B3C5-2758-4A26-9F06-9B3FAF90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647825"/>
            <a:ext cx="53149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9525">
            <a:solidFill>
              <a:srgbClr val="35403B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d4f89cc924172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09600" y="1695450"/>
            <a:ext cx="5219700" cy="29337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5651-6BA5-4A3E-99B6-6651F8F3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647825"/>
            <a:ext cx="5314950" cy="3028950"/>
          </a:xfrm>
          <a:prstGeom xmlns:a="http://schemas.openxmlformats.org/drawingml/2006/main" prst="roundRect">
            <a:avLst>
              <a:gd name="adj" fmla="val 3145"/>
            </a:avLst>
          </a:prstGeom>
          <a:solidFill xmlns:a="http://schemas.openxmlformats.org/drawingml/2006/main">
            <a:srgbClr val="17201C"/>
          </a:solidFill>
          <a:ln xmlns:a="http://schemas.openxmlformats.org/drawingml/2006/main" w="9525">
            <a:solidFill>
              <a:srgbClr val="35403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a14753e99b4954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362700" y="1695450"/>
            <a:ext cx="5219700" cy="2933700"/>
          </a:xfrm>
          <a:prstGeom xmlns:a="http://schemas.openxmlformats.org/drawingml/2006/main" prst="round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04A4A-4BB0-469B-8AE8-2D4B57CA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74584-937F-43B1-B464-6B82F1B8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628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0B76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B765B"/>
                </a:solidFill>
                <a:latin typeface="Arial"/>
                <a:ea typeface="Arial"/>
                <a:cs typeface="Arial"/>
              </a:rPr>
              <a:t>COACH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F9706-D5B4-4891-8496-811559F3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05000"/>
            <a:ext cx="990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6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C46A1-B5DE-47AF-A727-DDBBA39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621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D92D3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2D3A"/>
                </a:solidFill>
                <a:latin typeface="Arial"/>
                <a:ea typeface="Arial"/>
                <a:cs typeface="Arial"/>
              </a:rPr>
              <a:t>HANDOFF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79365B-D97C-4AF9-B488-95E68CA47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7BE0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BE0BE"/>
                </a:solidFill>
                <a:latin typeface="Arial"/>
                <a:ea typeface="Arial"/>
                <a:cs typeface="Arial"/>
              </a:rPr>
              <a:t>USER IMPACT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A0CF9A-241F-4BD0-8326-46A3B06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before dropout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D23AA-8484-4131-ADA2-FE54990C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6730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B9CF0-743E-41D0-8F9E-7347ECB0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7BE0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BE0BE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39598-1C69-48C4-B9CD-C6D798F7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149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Agentic dual-track intelligence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2AA46-4ABC-495F-8414-C1F0EB03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6730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D6F373-8E95-4760-A4D9-4288257A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7BE0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BE0BE"/>
                </a:solidFill>
                <a:latin typeface="Arial"/>
                <a:ea typeface="Arial"/>
                <a:cs typeface="Arial"/>
              </a:rPr>
              <a:t>FEASIBILITY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76CBF-9E64-4722-A2FA-29EB5732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149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inference + bounded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1A95F4-2405-4B7E-B025-760073AF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67300"/>
            <a:ext cx="952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0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2AB95F-3D02-4972-848B-95E52CE4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048250"/>
            <a:ext cx="2400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7BE0BE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7BE0BE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F469E-B27E-4231-A63D-81E38F9E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3149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Normal and escalation live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AF6D21-CABD-45D9-8908-885C8DF1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7BE0BE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BE0BE"/>
                </a:solidFill>
                <a:latin typeface="Arial"/>
                <a:ea typeface="Arial"/>
                <a:cs typeface="Arial"/>
              </a:rPr>
              <a:t>ADHERENCE OS FOR EMED</a:t>
            </a:r>
          </a:p>
        </p:txBody>
      </p:sp>
    </p:spTree>
    <p:extLst>
      <p:ext uri="{BB962C8B-B14F-4D97-AF65-F5344CB8AC3E}">
        <p14:creationId xmlns:p14="http://schemas.microsoft.com/office/powerpoint/2010/main" val="592947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2026-07-11T10:23:30.4520000Z</dcterms:created>
  <dcterms:modified xsi:type="dcterms:W3CDTF">2026-07-11T10:23:30.4520000Z</dcterms:modified>
</coreProperties>
</file>